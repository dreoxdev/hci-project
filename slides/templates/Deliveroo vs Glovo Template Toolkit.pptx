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2000"/>
  <p:notesSz cx="6858000" cy="9144000"/>
  <p:embeddedFontLst>
    <p:embeddedFont>
      <p:font typeface="Inter"/>
      <p:regular r:id="rId17"/>
      <p:bold r:id="rId18"/>
      <p:italic r:id="rId19"/>
      <p:boldItalic r:id="rId20"/>
    </p:embeddedFont>
    <p:embeddedFont>
      <p:font typeface="Bebas Neue"/>
      <p:regular r:id="rId21"/>
    </p:embeddedFont>
    <p:embeddedFont>
      <p:font typeface="Sora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08E5EA-61CB-46DA-978D-EB806433127E}">
  <a:tblStyle styleId="{2608E5EA-61CB-46DA-978D-EB806433127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5.xml"/><Relationship Id="rId22" Type="http://schemas.openxmlformats.org/officeDocument/2006/relationships/font" Target="fonts/Sora-regular.fntdata"/><Relationship Id="rId10" Type="http://schemas.openxmlformats.org/officeDocument/2006/relationships/slide" Target="slides/slide4.xml"/><Relationship Id="rId21" Type="http://schemas.openxmlformats.org/officeDocument/2006/relationships/font" Target="fonts/BebasNeue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font" Target="fonts/Sor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Inter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Inter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Inter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3.png"/><Relationship Id="rId4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2.png"/><Relationship Id="rId4" Type="http://schemas.openxmlformats.org/officeDocument/2006/relationships/image" Target="../media/image12.png"/><Relationship Id="rId9" Type="http://schemas.openxmlformats.org/officeDocument/2006/relationships/image" Target="../media/image29.png"/><Relationship Id="rId5" Type="http://schemas.openxmlformats.org/officeDocument/2006/relationships/image" Target="../media/image3.png"/><Relationship Id="rId6" Type="http://schemas.openxmlformats.org/officeDocument/2006/relationships/image" Target="../media/image21.png"/><Relationship Id="rId7" Type="http://schemas.openxmlformats.org/officeDocument/2006/relationships/image" Target="../media/image18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3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16.png"/><Relationship Id="rId5" Type="http://schemas.openxmlformats.org/officeDocument/2006/relationships/image" Target="../media/image27.png"/><Relationship Id="rId6" Type="http://schemas.openxmlformats.org/officeDocument/2006/relationships/image" Target="../media/image15.png"/><Relationship Id="rId7" Type="http://schemas.openxmlformats.org/officeDocument/2006/relationships/image" Target="../media/image30.png"/><Relationship Id="rId8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title="Background 0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324350" y="2300287"/>
            <a:ext cx="3543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D300"/>
                </a:solidFill>
                <a:latin typeface="Inter"/>
                <a:ea typeface="Inter"/>
                <a:cs typeface="Inter"/>
                <a:sym typeface="Inter"/>
              </a:rPr>
              <a:t>UX RESEARCH ANALYSIS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660570" y="2557462"/>
            <a:ext cx="68708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[PROJECT TITLE]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419600" y="3509962"/>
            <a:ext cx="33528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C7C7"/>
                </a:solidFill>
                <a:latin typeface="Inter"/>
                <a:ea typeface="Inter"/>
                <a:cs typeface="Inter"/>
                <a:sym typeface="Inter"/>
              </a:rPr>
              <a:t>[SUBTITLE GOES HERE]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6272212" y="4357687"/>
            <a:ext cx="12668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 [AUTHORS]  [YEAR/DATE]</a:t>
            </a:r>
            <a:endParaRPr/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2962" y="4376737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72212" y="4376737"/>
            <a:ext cx="152400" cy="17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title="Background 1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467350" y="2709862"/>
            <a:ext cx="1257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D300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625441" y="2967037"/>
            <a:ext cx="8941117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[SECTION NAME]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1838325" y="4110037"/>
            <a:ext cx="8515350" cy="38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11049000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[GRAPH TITLE]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title="Background 5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0"/>
            <a:ext cx="11049000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533525"/>
            <a:ext cx="53340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200275"/>
            <a:ext cx="5334000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1533525"/>
            <a:ext cx="53340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0" y="2200275"/>
            <a:ext cx="533400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[COMPARISON TITLE]</a:t>
            </a:r>
            <a:endParaRPr/>
          </a:p>
        </p:txBody>
      </p:sp>
      <p:sp>
        <p:nvSpPr>
          <p:cNvPr id="120" name="Google Shape;120;p16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1" name="Google Shape;121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5924550"/>
            <a:ext cx="1143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7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7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[STATISTICAL DATA TABLE]</a:t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9" name="Google Shape;129;p17"/>
          <p:cNvGraphicFramePr/>
          <p:nvPr/>
        </p:nvGraphicFramePr>
        <p:xfrm>
          <a:off x="571500" y="13874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{2608E5EA-61CB-46DA-978D-EB806433127E}</a:tableStyleId>
              </a:tblPr>
              <a:tblGrid>
                <a:gridCol w="2702575"/>
                <a:gridCol w="2559550"/>
                <a:gridCol w="2050700"/>
                <a:gridCol w="1494375"/>
                <a:gridCol w="2241800"/>
              </a:tblGrid>
              <a:tr h="95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Metric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Deliveroo (Avg)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Glovo (Avg)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p-value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Significance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95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Success Rate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92%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0.042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Time on Task (s)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45.2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58.1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95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SUS 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78.5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72.1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0.125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 Significant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Error Rate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D6D6D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0.033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Google Shape;130;p17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[TABLE FOOTNOTE: Results based on Mann-Whitney U Test]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8" title="Background 2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97813" y="1916400"/>
            <a:ext cx="4517632" cy="3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8"/>
          <p:cNvSpPr txBox="1"/>
          <p:nvPr/>
        </p:nvSpPr>
        <p:spPr>
          <a:xfrm>
            <a:off x="759450" y="1049025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KEY FINDINGS &amp; INSIGHTS</a:t>
            </a: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530850" y="1049025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8"/>
          <p:cNvSpPr txBox="1"/>
          <p:nvPr/>
        </p:nvSpPr>
        <p:spPr>
          <a:xfrm>
            <a:off x="968113" y="2393925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Finding 1:</a:t>
            </a: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[REPLACE WITH KEY INSIGHT GENERATED BY PYTHON ANALYSIS]</a:t>
            </a:r>
            <a:endParaRPr/>
          </a:p>
        </p:txBody>
      </p:sp>
      <p:sp>
        <p:nvSpPr>
          <p:cNvPr id="140" name="Google Shape;140;p18"/>
          <p:cNvSpPr txBox="1"/>
          <p:nvPr/>
        </p:nvSpPr>
        <p:spPr>
          <a:xfrm>
            <a:off x="968113" y="3089250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Finding 2:</a:t>
            </a: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[REPLACE WITH KEY INSIGHT GENERATED BY PYTHON ANALYSIS]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968113" y="3784575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Finding 3:</a:t>
            </a: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[REPLACE WITH KEY INSIGHT GENERATED BY PYTHON ANALYSIS]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968113" y="4479900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Finding 4:</a:t>
            </a: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[REPLACE WITH KEY INSIGHT GENERATED BY PYTHON ANALYSIS]</a:t>
            </a:r>
            <a:endParaRPr/>
          </a:p>
        </p:txBody>
      </p:sp>
      <p:pic>
        <p:nvPicPr>
          <p:cNvPr descr="image.png" id="143" name="Google Shape;14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70" y="2393925"/>
            <a:ext cx="426185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089242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784567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4479892"/>
            <a:ext cx="426200" cy="46171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7426950" y="944875"/>
            <a:ext cx="478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9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50" y="4127198"/>
            <a:ext cx="533400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9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[TASK NAME: E.G. SEARCH RESTAURANT]</a:t>
            </a:r>
            <a:endParaRPr/>
          </a:p>
        </p:txBody>
      </p:sp>
      <p:sp>
        <p:nvSpPr>
          <p:cNvPr id="155" name="Google Shape;155;p19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571500" y="1533525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D300"/>
                </a:solidFill>
                <a:latin typeface="Sora"/>
                <a:ea typeface="Sora"/>
                <a:cs typeface="Sora"/>
                <a:sym typeface="Sora"/>
              </a:rPr>
              <a:t>TASK DESCRIPTION</a:t>
            </a:r>
            <a:endParaRPr/>
          </a:p>
        </p:txBody>
      </p:sp>
      <p:sp>
        <p:nvSpPr>
          <p:cNvPr id="157" name="Google Shape;157;p19"/>
          <p:cNvSpPr txBox="1"/>
          <p:nvPr/>
        </p:nvSpPr>
        <p:spPr>
          <a:xfrm>
            <a:off x="571500" y="1895475"/>
            <a:ext cx="5334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[DESCRIPTION: "User is asked to find a Poke restaurant with a rating higher than 4.5 and a delivery fee under 2€"]</a:t>
            </a:r>
            <a:endParaRPr/>
          </a:p>
        </p:txBody>
      </p:sp>
      <p:pic>
        <p:nvPicPr>
          <p:cNvPr descr="image.png" id="158" name="Google Shape;15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533525"/>
            <a:ext cx="5334000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9"/>
          <p:cNvSpPr txBox="1"/>
          <p:nvPr/>
        </p:nvSpPr>
        <p:spPr>
          <a:xfrm>
            <a:off x="733350" y="4317698"/>
            <a:ext cx="52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D300"/>
                </a:solidFill>
                <a:latin typeface="Sora"/>
                <a:ea typeface="Sora"/>
                <a:cs typeface="Sora"/>
                <a:sym typeface="Sora"/>
              </a:rPr>
              <a:t>TASK RESULTS</a:t>
            </a:r>
            <a:endParaRPr/>
          </a:p>
        </p:txBody>
      </p:sp>
      <p:sp>
        <p:nvSpPr>
          <p:cNvPr id="160" name="Google Shape;160;p19"/>
          <p:cNvSpPr/>
          <p:nvPr/>
        </p:nvSpPr>
        <p:spPr>
          <a:xfrm>
            <a:off x="733350" y="4603635"/>
            <a:ext cx="4953000" cy="9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 txBox="1"/>
          <p:nvPr/>
        </p:nvSpPr>
        <p:spPr>
          <a:xfrm>
            <a:off x="733350" y="4803473"/>
            <a:ext cx="8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SUCCESS RATE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733350" y="4955873"/>
            <a:ext cx="866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[XX%]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5038650" y="4803473"/>
            <a:ext cx="533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AVG TIME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5038650" y="5079723"/>
            <a:ext cx="6477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[XX.X s]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0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110490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0112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0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[QUESTION TITLE: UEQ SCALE]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762000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3.2</a:t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762000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MEAN</a:t>
            </a:r>
            <a:endParaRPr/>
          </a:p>
        </p:txBody>
      </p:sp>
      <p:sp>
        <p:nvSpPr>
          <p:cNvPr id="179" name="Google Shape;179;p20"/>
          <p:cNvSpPr txBox="1"/>
          <p:nvPr/>
        </p:nvSpPr>
        <p:spPr>
          <a:xfrm>
            <a:off x="3571875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0.8</a:t>
            </a:r>
            <a:endParaRPr/>
          </a:p>
        </p:txBody>
      </p:sp>
      <p:sp>
        <p:nvSpPr>
          <p:cNvPr id="180" name="Google Shape;180;p20"/>
          <p:cNvSpPr txBox="1"/>
          <p:nvPr/>
        </p:nvSpPr>
        <p:spPr>
          <a:xfrm>
            <a:off x="3571875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STD DEV</a:t>
            </a:r>
            <a:endParaRPr/>
          </a:p>
        </p:txBody>
      </p:sp>
      <p:sp>
        <p:nvSpPr>
          <p:cNvPr id="181" name="Google Shape;181;p20"/>
          <p:cNvSpPr txBox="1"/>
          <p:nvPr/>
        </p:nvSpPr>
        <p:spPr>
          <a:xfrm>
            <a:off x="6381750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1.5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6381750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MIN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9191625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4.9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9191625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6D6D6"/>
                </a:solidFill>
                <a:latin typeface="Inter"/>
                <a:ea typeface="Inter"/>
                <a:cs typeface="Inter"/>
                <a:sym typeface="Inter"/>
              </a:rPr>
              <a:t>MAX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1" title="Background 5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790950"/>
            <a:ext cx="11049000" cy="2477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533525"/>
            <a:ext cx="5381625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1533525"/>
            <a:ext cx="5381625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412291" y="194696"/>
            <a:ext cx="2003417" cy="105308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FINAL VERDICT &amp; CONCLUSIONS</a:t>
            </a:r>
            <a:endParaRPr/>
          </a:p>
        </p:txBody>
      </p:sp>
      <p:sp>
        <p:nvSpPr>
          <p:cNvPr id="195" name="Google Shape;195;p21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866775" y="1828800"/>
            <a:ext cx="5030628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C7C7"/>
                </a:solidFill>
                <a:latin typeface="Inter"/>
                <a:ea typeface="Inter"/>
                <a:cs typeface="Inter"/>
                <a:sym typeface="Inter"/>
              </a:rPr>
              <a:t>DELIVEROO</a:t>
            </a:r>
            <a:endParaRPr/>
          </a:p>
        </p:txBody>
      </p:sp>
      <p:sp>
        <p:nvSpPr>
          <p:cNvPr id="197" name="Google Shape;197;p21"/>
          <p:cNvSpPr txBox="1"/>
          <p:nvPr/>
        </p:nvSpPr>
        <p:spPr>
          <a:xfrm>
            <a:off x="6534150" y="1828800"/>
            <a:ext cx="5030628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D300"/>
                </a:solidFill>
                <a:latin typeface="Inter"/>
                <a:ea typeface="Inter"/>
                <a:cs typeface="Inter"/>
                <a:sym typeface="Inter"/>
              </a:rPr>
              <a:t>GLOVO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1247775" y="22383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[STRENGTH 1]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1247775" y="256222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[STRENGTH 2]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1247775" y="28860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4B4B"/>
                </a:solidFill>
                <a:latin typeface="Inter"/>
                <a:ea typeface="Inter"/>
                <a:cs typeface="Inter"/>
                <a:sym typeface="Inter"/>
              </a:rPr>
              <a:t>[WEAKNESS]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915150" y="22383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[STRENGTH 1]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6915150" y="256222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[STRENGTH 2]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915150" y="28860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4B4B"/>
                </a:solidFill>
                <a:latin typeface="Inter"/>
                <a:ea typeface="Inter"/>
                <a:cs typeface="Inter"/>
                <a:sym typeface="Inter"/>
              </a:rPr>
              <a:t>[WEAKNESS]</a:t>
            </a:r>
            <a:endParaRPr/>
          </a:p>
        </p:txBody>
      </p:sp>
      <p:pic>
        <p:nvPicPr>
          <p:cNvPr descr="image.png" id="204" name="Google Shape;204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2383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5622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22383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25622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3146" y="2876563"/>
            <a:ext cx="235857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34150" y="2866085"/>
            <a:ext cx="228600" cy="240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2" title="Background 1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2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IMAGE SOURCES</a:t>
            </a:r>
            <a:endParaRPr/>
          </a:p>
        </p:txBody>
      </p:sp>
      <p:sp>
        <p:nvSpPr>
          <p:cNvPr id="216" name="Google Shape;216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7" name="Google Shape;21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764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2"/>
          <p:cNvSpPr txBox="1"/>
          <p:nvPr/>
        </p:nvSpPr>
        <p:spPr>
          <a:xfrm>
            <a:off x="1666875" y="1719262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https://s3.envato.com/files/390502005/01_Preview.__large_preview.png</a:t>
            </a:r>
            <a:endParaRPr/>
          </a:p>
        </p:txBody>
      </p:sp>
      <p:sp>
        <p:nvSpPr>
          <p:cNvPr id="219" name="Google Shape;219;p22"/>
          <p:cNvSpPr txBox="1"/>
          <p:nvPr/>
        </p:nvSpPr>
        <p:spPr>
          <a:xfrm>
            <a:off x="1666875" y="1919287"/>
            <a:ext cx="9953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themeforest.net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