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Bebas Neue"/>
      <p:regular r:id="rId21"/>
    </p:embeddedFont>
    <p:embeddedFont>
      <p:font typeface="Sor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61DEAA-DB44-40C2-881C-6D53FCE2C087}">
  <a:tblStyle styleId="{0D61DEAA-DB44-40C2-881C-6D53FCE2C0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5.xml"/><Relationship Id="rId22" Type="http://schemas.openxmlformats.org/officeDocument/2006/relationships/font" Target="fonts/Sora-regular.fntdata"/><Relationship Id="rId10" Type="http://schemas.openxmlformats.org/officeDocument/2006/relationships/slide" Target="slides/slide4.xml"/><Relationship Id="rId21" Type="http://schemas.openxmlformats.org/officeDocument/2006/relationships/font" Target="fonts/BebasNeu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Sor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9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Background 0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24350" y="2300287"/>
            <a:ext cx="3543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D300"/>
                </a:solidFill>
                <a:latin typeface="Inter"/>
                <a:ea typeface="Inter"/>
                <a:cs typeface="Inter"/>
                <a:sym typeface="Inter"/>
              </a:rPr>
              <a:t>UX RESEARCH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60570" y="2557462"/>
            <a:ext cx="687085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[PROJECT TITLE]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19600" y="3509962"/>
            <a:ext cx="3352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C7C7"/>
                </a:solidFill>
                <a:latin typeface="Inter"/>
                <a:ea typeface="Inter"/>
                <a:cs typeface="Inter"/>
                <a:sym typeface="Inter"/>
              </a:rPr>
              <a:t>[SUBTITLE GOES HERE]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272212" y="4357687"/>
            <a:ext cx="1266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 [AUTHORS]  [YEAR/DATE]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962" y="437673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2212" y="4376737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467350" y="2709862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D300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625441" y="2967037"/>
            <a:ext cx="894111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838325" y="4110037"/>
            <a:ext cx="8515350" cy="38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0"/>
            <a:ext cx="11049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00275"/>
            <a:ext cx="5334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533525"/>
            <a:ext cx="533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200275"/>
            <a:ext cx="5334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[COMPARISON TITLE]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924550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[STATISTICAL DATA TABLE]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7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{0D61DEAA-DB44-40C2-881C-6D53FCE2C087}</a:tableStyleId>
              </a:tblPr>
              <a:tblGrid>
                <a:gridCol w="2702575"/>
                <a:gridCol w="2559550"/>
                <a:gridCol w="2050700"/>
                <a:gridCol w="1494375"/>
                <a:gridCol w="2241800"/>
              </a:tblGrid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6D6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17"/>
          <p:cNvSpPr txBox="1"/>
          <p:nvPr/>
        </p:nvSpPr>
        <p:spPr>
          <a:xfrm>
            <a:off x="571500" y="4171950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[TABLE FOOTNOTE: Results based on Mann-Whitney U Test]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71500" y="2009775"/>
            <a:ext cx="2702569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274069" y="2009775"/>
            <a:ext cx="2559546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833616" y="2009775"/>
            <a:ext cx="2050702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7884318" y="2009775"/>
            <a:ext cx="1494383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9378701" y="2009775"/>
            <a:ext cx="2241798" cy="1905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71500" y="2509837"/>
            <a:ext cx="270256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274069" y="2509837"/>
            <a:ext cx="2559546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833616" y="2509837"/>
            <a:ext cx="2050702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884318" y="2509837"/>
            <a:ext cx="149438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9378701" y="2509837"/>
            <a:ext cx="2241798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2995612"/>
            <a:ext cx="270256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274069" y="2995612"/>
            <a:ext cx="2559546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833616" y="2995612"/>
            <a:ext cx="2050702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884318" y="2995612"/>
            <a:ext cx="149438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378701" y="2995612"/>
            <a:ext cx="2241798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3481387"/>
            <a:ext cx="270256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274069" y="3481387"/>
            <a:ext cx="2559546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33616" y="3481387"/>
            <a:ext cx="2050702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884318" y="3481387"/>
            <a:ext cx="149438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9378701" y="3481387"/>
            <a:ext cx="2241798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3967162"/>
            <a:ext cx="2702569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274069" y="3967162"/>
            <a:ext cx="2559546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33616" y="3967162"/>
            <a:ext cx="2050702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884318" y="3967162"/>
            <a:ext cx="1494383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9378701" y="3967162"/>
            <a:ext cx="2241798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title="Background 2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533525"/>
            <a:ext cx="42672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911850" y="2011050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 1: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[REPLACE WITH KEY INSIGHT GENERATED BY PYTHON ANALYSIS]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11850" y="2706375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 2: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[REPLACE WITH KEY INSIGHT GENERATED BY PYTHON ANALYSIS]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11850" y="3401700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 3: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[REPLACE WITH KEY INSIGHT GENERATED BY PYTHON ANALYSIS]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11850" y="4097025"/>
            <a:ext cx="60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 4: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[REPLACE WITH KEY INSIGHT GENERATED BY PYTHON ANALYSIS]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50" y="2011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50" y="2706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50" y="3401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850" y="40970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3535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[TASK NAME: E.G. SEARCH RESTAURANT]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5335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D300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1895475"/>
            <a:ext cx="5334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[DESCRIPTION: "User is asked to find a Poke restaurant with a rating higher than 4.5 and a delivery fee under 2€"]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2764035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300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62000" y="3059310"/>
            <a:ext cx="4953000" cy="952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762000" y="3249810"/>
            <a:ext cx="866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62000" y="3402210"/>
            <a:ext cx="866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[XX%]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067300" y="3249810"/>
            <a:ext cx="533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067300" y="3402210"/>
            <a:ext cx="647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[XX.X s]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[QUESTION TITLE: UEQ SCALE]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6200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3.2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6200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357187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0.8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357187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38175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1.5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38175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19162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4.9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19162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6D6D6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90950"/>
            <a:ext cx="11049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2291" y="194696"/>
            <a:ext cx="2003417" cy="1053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FINAL VERDICT &amp; CONCLUSIONS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866775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C7C7"/>
                </a:solidFill>
                <a:latin typeface="Inter"/>
                <a:ea typeface="Inter"/>
                <a:cs typeface="Inter"/>
                <a:sym typeface="Inter"/>
              </a:rPr>
              <a:t>DELIVEROO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534150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D300"/>
                </a:solidFill>
                <a:latin typeface="Inter"/>
                <a:ea typeface="Inter"/>
                <a:cs typeface="Inter"/>
                <a:sym typeface="Inter"/>
              </a:rPr>
              <a:t>GLOVO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247775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247775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247775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4B4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915150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915150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915150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4B4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/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886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886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7775" y="2900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15150" y="29003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IMAGE SOURCES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1666875" y="171926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https://s3.envato.com/files/390502005/01_Preview.__large_preview.png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666875" y="1919287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themeforest.net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