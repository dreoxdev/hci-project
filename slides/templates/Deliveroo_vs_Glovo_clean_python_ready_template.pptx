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y="6858000" cx="12192000"/>
  <p:notesSz cx="6858000" cy="9144000"/>
  <p:embeddedFontLst>
    <p:embeddedFont>
      <p:font typeface="Inter"/>
      <p:regular r:id="rId32"/>
      <p:bold r:id="rId33"/>
      <p:italic r:id="rId34"/>
      <p:boldItalic r:id="rId35"/>
    </p:embeddedFont>
    <p:embeddedFont>
      <p:font typeface="Bebas Neue"/>
      <p:regular r:id="rId36"/>
    </p:embeddedFont>
    <p:embeddedFont>
      <p:font typeface="Sora"/>
      <p:regular r:id="rId37"/>
      <p:bold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99B03C7-0354-4989-A580-935E6353B0BF}">
  <a:tblStyle styleId="{699B03C7-0354-4989-A580-935E6353B0BF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fill>
          <a:solidFill>
            <a:srgbClr val="CFD7E7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FD7E7"/>
          </a:solidFill>
        </a:fill>
      </a:tcStyle>
    </a:band1V>
    <a:band2V>
      <a:tcTxStyle b="off" i="off"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font" Target="fonts/Inter-regular.fntdata"/><Relationship Id="rId33" Type="http://schemas.openxmlformats.org/officeDocument/2006/relationships/font" Target="fonts/Inter-bold.fntdata"/><Relationship Id="rId34" Type="http://schemas.openxmlformats.org/officeDocument/2006/relationships/font" Target="fonts/Inter-italic.fntdata"/><Relationship Id="rId35" Type="http://schemas.openxmlformats.org/officeDocument/2006/relationships/font" Target="fonts/Inter-boldItalic.fntdata"/><Relationship Id="rId36" Type="http://schemas.openxmlformats.org/officeDocument/2006/relationships/font" Target="fonts/BebasNeue-regular.fntdata"/><Relationship Id="rId37" Type="http://schemas.openxmlformats.org/officeDocument/2006/relationships/font" Target="fonts/Sora-regular.fntdata"/><Relationship Id="rId38" Type="http://schemas.openxmlformats.org/officeDocument/2006/relationships/font" Target="fonts/Sora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e0886062bc_0_1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4" name="Google Shape;94;g3e0886062bc_0_18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3" name="Google Shape;10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e0886062bc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2" name="Google Shape;112;g3e0886062bc_0_4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0886062bc_0_1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1" name="Google Shape;121;g3e0886062bc_0_17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0" name="Google Shape;13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e0886062b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9" name="Google Shape;139;g3e0886062bc_0_5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8" name="Google Shape;14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e0886062bc_0_1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0" name="Google Shape;160;g3e0886062bc_0_16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9" name="Google Shape;16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e0886062bc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8" name="Google Shape;178;g3e0886062bc_0_7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e0886062bc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7" name="Google Shape;187;g3e0886062bc_0_15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4" name="Google Shape;20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e0886062b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1" name="Google Shape;221;g3e0886062bc_0_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e0886062bc_0_1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8" name="Google Shape;238;g3e0886062bc_0_13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5" name="Google Shape;255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e0886062b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2" name="Google Shape;272;g3e0886062bc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9" name="Google Shape;28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e0886062bc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9" name="Google Shape;309;g3e0886062bc_0_11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e0886062bc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9" name="Google Shape;329;g3e0886062bc_0_9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49" name="Google Shape;349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74" name="Google Shape;374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e0886062bc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g3e0886062bc_0_8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e0886062bc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g3e0886062bc_0_9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5" name="Google Shape;35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2" name="Google Shape;42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9" name="Google Shape;49;p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2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4.png"/><Relationship Id="rId4" Type="http://schemas.openxmlformats.org/officeDocument/2006/relationships/image" Target="../media/image7.png"/><Relationship Id="rId5" Type="http://schemas.openxmlformats.org/officeDocument/2006/relationships/image" Target="../media/image2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6.png"/><Relationship Id="rId4" Type="http://schemas.openxmlformats.org/officeDocument/2006/relationships/image" Target="../media/image7.png"/><Relationship Id="rId5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0.png"/><Relationship Id="rId6" Type="http://schemas.openxmlformats.org/officeDocument/2006/relationships/image" Target="../media/image28.png"/><Relationship Id="rId7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19.png"/><Relationship Id="rId5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Relationship Id="rId4" Type="http://schemas.openxmlformats.org/officeDocument/2006/relationships/image" Target="../media/image19.png"/><Relationship Id="rId5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Relationship Id="rId4" Type="http://schemas.openxmlformats.org/officeDocument/2006/relationships/image" Target="../media/image19.png"/><Relationship Id="rId5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Relationship Id="rId4" Type="http://schemas.openxmlformats.org/officeDocument/2006/relationships/image" Target="../media/image33.png"/><Relationship Id="rId5" Type="http://schemas.openxmlformats.org/officeDocument/2006/relationships/image" Target="../media/image2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Relationship Id="rId4" Type="http://schemas.openxmlformats.org/officeDocument/2006/relationships/image" Target="../media/image33.png"/><Relationship Id="rId5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Relationship Id="rId4" Type="http://schemas.openxmlformats.org/officeDocument/2006/relationships/image" Target="../media/image33.png"/><Relationship Id="rId5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6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Relationship Id="rId4" Type="http://schemas.openxmlformats.org/officeDocument/2006/relationships/image" Target="../media/image45.png"/><Relationship Id="rId5" Type="http://schemas.openxmlformats.org/officeDocument/2006/relationships/image" Target="../media/image35.png"/><Relationship Id="rId6" Type="http://schemas.openxmlformats.org/officeDocument/2006/relationships/image" Target="../media/image38.png"/><Relationship Id="rId7" Type="http://schemas.openxmlformats.org/officeDocument/2006/relationships/image" Target="../media/image44.png"/><Relationship Id="rId8" Type="http://schemas.openxmlformats.org/officeDocument/2006/relationships/image" Target="../media/image26.png"/><Relationship Id="rId9" Type="http://schemas.openxmlformats.org/officeDocument/2006/relationships/image" Target="../media/image4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4.png"/><Relationship Id="rId4" Type="http://schemas.openxmlformats.org/officeDocument/2006/relationships/image" Target="../media/image3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title="Background 5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571500"/>
            <a:ext cx="11049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4324350" y="2300287"/>
            <a:ext cx="35433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UX RESEARCH ANALYSIS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PROJECT_TITLE"/>
          <p:cNvSpPr txBox="1"/>
          <p:nvPr/>
        </p:nvSpPr>
        <p:spPr>
          <a:xfrm>
            <a:off x="2660570" y="2557462"/>
            <a:ext cx="6870858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[PROJECT TITLE]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PROJECT_SUBTITLE"/>
          <p:cNvSpPr txBox="1"/>
          <p:nvPr/>
        </p:nvSpPr>
        <p:spPr>
          <a:xfrm>
            <a:off x="4419600" y="3509962"/>
            <a:ext cx="335280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[SUBTITLE GOES HERE]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AUTHORS_DATE"/>
          <p:cNvSpPr txBox="1"/>
          <p:nvPr/>
        </p:nvSpPr>
        <p:spPr>
          <a:xfrm>
            <a:off x="6272212" y="4357687"/>
            <a:ext cx="126682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 [AUTHORS]  [YEAR/DATE]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90" name="Google Shape;90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652962" y="4376737"/>
            <a:ext cx="21907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1" name="Google Shape;91;p1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72212" y="4376737"/>
            <a:ext cx="15240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TEMPLATE_ID_cover"/>
          <p:cNvSpPr txBox="1"/>
          <p:nvPr/>
        </p:nvSpPr>
        <p:spPr>
          <a:xfrm>
            <a:off x="-1828800" y="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TEMPLATE_ID:cover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4" title="Background 3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7" name="Google Shape;97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571500"/>
            <a:ext cx="11049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4"/>
          <p:cNvSpPr txBox="1"/>
          <p:nvPr/>
        </p:nvSpPr>
        <p:spPr>
          <a:xfrm>
            <a:off x="5467350" y="2709862"/>
            <a:ext cx="12573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SECTION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SECTION_NAME"/>
          <p:cNvSpPr txBox="1"/>
          <p:nvPr/>
        </p:nvSpPr>
        <p:spPr>
          <a:xfrm>
            <a:off x="1625441" y="2967037"/>
            <a:ext cx="89412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0"/>
              <a:buFont typeface="Arial"/>
              <a:buNone/>
            </a:pPr>
            <a:r>
              <a:rPr b="1" i="0" lang="en-US" sz="75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[SECTION NAME]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0" name="Google Shape;100;p14" title="Asset 1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52500" y="1015975"/>
            <a:ext cx="10286999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TEMPLATE_ID_section_divider_neutral"/>
          <p:cNvSpPr txBox="1"/>
          <p:nvPr/>
        </p:nvSpPr>
        <p:spPr>
          <a:xfrm>
            <a:off x="-1828800" y="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TEMPLATE_ID:section_divider_neutral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15" title="Background 1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6" name="Google Shape;106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571500"/>
            <a:ext cx="11049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5"/>
          <p:cNvSpPr txBox="1"/>
          <p:nvPr/>
        </p:nvSpPr>
        <p:spPr>
          <a:xfrm>
            <a:off x="5467350" y="2709862"/>
            <a:ext cx="1257300" cy="161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SECTION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SECTION_NAME"/>
          <p:cNvSpPr txBox="1"/>
          <p:nvPr/>
        </p:nvSpPr>
        <p:spPr>
          <a:xfrm>
            <a:off x="1625441" y="2967037"/>
            <a:ext cx="8941117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0"/>
              <a:buFont typeface="Arial"/>
              <a:buNone/>
            </a:pPr>
            <a:r>
              <a:rPr b="1" i="0" lang="en-US" sz="75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[SECTION NAME]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9" name="Google Shape;109;p15" title="Asset 1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52500" y="1015975"/>
            <a:ext cx="10286999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TEMPLATE_ID_section_divider_deliveroo"/>
          <p:cNvSpPr txBox="1"/>
          <p:nvPr/>
        </p:nvSpPr>
        <p:spPr>
          <a:xfrm>
            <a:off x="-1828800" y="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TEMPLATE_ID:section_divider_deliveroo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16" title="Background 7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571500"/>
            <a:ext cx="11049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/>
          <p:cNvSpPr txBox="1"/>
          <p:nvPr/>
        </p:nvSpPr>
        <p:spPr>
          <a:xfrm>
            <a:off x="5467350" y="2709862"/>
            <a:ext cx="12573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SECTION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SECTION_NAME"/>
          <p:cNvSpPr txBox="1"/>
          <p:nvPr/>
        </p:nvSpPr>
        <p:spPr>
          <a:xfrm>
            <a:off x="1625441" y="2967037"/>
            <a:ext cx="89412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0"/>
              <a:buFont typeface="Arial"/>
              <a:buNone/>
            </a:pPr>
            <a:r>
              <a:rPr b="1" i="0" lang="en-US" sz="75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[SECTION NAME]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8" name="Google Shape;118;p16" title="Asset 0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21750" y="1046500"/>
            <a:ext cx="10286999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TEMPLATE_ID_section_divider_glovo"/>
          <p:cNvSpPr txBox="1"/>
          <p:nvPr/>
        </p:nvSpPr>
        <p:spPr>
          <a:xfrm>
            <a:off x="-1828800" y="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TEMPLATE_ID:section_divider_glovo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17" title="Background 3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4" name="GRAPH_MAIN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346950"/>
            <a:ext cx="11049000" cy="393955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RAPH_TITLE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[GRAPH TITLE]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INSIGHT_TEXT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E5E7EB"/>
                </a:solidFill>
                <a:latin typeface="Arial"/>
                <a:ea typeface="Arial"/>
                <a:cs typeface="Arial"/>
                <a:sym typeface="Arial"/>
              </a:rPr>
              <a:t>[INSIGHT_TEXT]</a:t>
            </a:r>
            <a:endParaRPr/>
          </a:p>
        </p:txBody>
      </p:sp>
      <p:sp>
        <p:nvSpPr>
          <p:cNvPr id="128" name="TEMPLATE_ID_graph_full_neutral"/>
          <p:cNvSpPr txBox="1"/>
          <p:nvPr/>
        </p:nvSpPr>
        <p:spPr>
          <a:xfrm>
            <a:off x="-1828800" y="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TEMPLATE_ID:graph_full_neutral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18" title="Background 6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3" name="GRAPH_MAIN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346950"/>
            <a:ext cx="11049000" cy="393955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RAPH_TITLE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[GRAPH TITLE]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INSIGHT_TEXT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E5E7EB"/>
                </a:solidFill>
                <a:latin typeface="Arial"/>
                <a:ea typeface="Arial"/>
                <a:cs typeface="Arial"/>
                <a:sym typeface="Arial"/>
              </a:rPr>
              <a:t>[INSIGHT_TEXT]</a:t>
            </a:r>
            <a:endParaRPr/>
          </a:p>
        </p:txBody>
      </p:sp>
      <p:sp>
        <p:nvSpPr>
          <p:cNvPr id="137" name="TEMPLATE_ID_graph_full_deliveroo"/>
          <p:cNvSpPr txBox="1"/>
          <p:nvPr/>
        </p:nvSpPr>
        <p:spPr>
          <a:xfrm>
            <a:off x="-1828800" y="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TEMPLATE_ID:graph_full_deliveroo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19" title="Background 7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2" name="GRAPH_MAIN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346950"/>
            <a:ext cx="11049000" cy="393955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RAPH_TITLE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[GRAPH TITLE]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19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INSIGHT_TEXT"/>
          <p:cNvSpPr txBox="1"/>
          <p:nvPr/>
        </p:nvSpPr>
        <p:spPr>
          <a:xfrm>
            <a:off x="800100" y="1238250"/>
            <a:ext cx="105000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E5E7EB"/>
                </a:solidFill>
                <a:latin typeface="Arial"/>
                <a:ea typeface="Arial"/>
                <a:cs typeface="Arial"/>
                <a:sym typeface="Arial"/>
              </a:rPr>
              <a:t>[INSIGHT_TEXT]</a:t>
            </a:r>
            <a:endParaRPr/>
          </a:p>
        </p:txBody>
      </p:sp>
      <p:sp>
        <p:nvSpPr>
          <p:cNvPr id="146" name="TEMPLATE_ID_graph_full_glovo"/>
          <p:cNvSpPr txBox="1"/>
          <p:nvPr/>
        </p:nvSpPr>
        <p:spPr>
          <a:xfrm>
            <a:off x="-1828800" y="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TEMPLATE_ID:graph_full_glovo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20" title="Background 5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1" name="Google Shape;151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533525"/>
            <a:ext cx="533400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2" name="LEFT_GRAPH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2200275"/>
            <a:ext cx="5334000" cy="3228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3" name="LEFT_GRAPH_HEADER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86500" y="1533525"/>
            <a:ext cx="533400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4" name="RIGHT_GRAPH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86500" y="2200275"/>
            <a:ext cx="5334000" cy="322897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COMPARISON_TITLE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[COMPARISON TITLE]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TITLE_ACCENT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SUMMARY_TEXT"/>
          <p:cNvSpPr txBox="1"/>
          <p:nvPr/>
        </p:nvSpPr>
        <p:spPr>
          <a:xfrm>
            <a:off x="571500" y="5619750"/>
            <a:ext cx="11049000" cy="67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E5E7EB"/>
                </a:solidFill>
                <a:latin typeface="Arial"/>
                <a:ea typeface="Arial"/>
                <a:cs typeface="Arial"/>
                <a:sym typeface="Arial"/>
              </a:rPr>
              <a:t>[SUMMARY_TEXT]</a:t>
            </a:r>
            <a:endParaRPr/>
          </a:p>
        </p:txBody>
      </p:sp>
      <p:sp>
        <p:nvSpPr>
          <p:cNvPr id="158" name="TEMPLATE_ID_comparison_neutral"/>
          <p:cNvSpPr txBox="1"/>
          <p:nvPr/>
        </p:nvSpPr>
        <p:spPr>
          <a:xfrm>
            <a:off x="-1828800" y="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TEMPLATE_ID:comparison_neutral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21" title="Background 3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TABLE_TITLE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[TABLE_TITLE]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1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65" name="TABLE_MAIN"/>
          <p:cNvGraphicFramePr/>
          <p:nvPr/>
        </p:nvGraphicFramePr>
        <p:xfrm>
          <a:off x="571500" y="153352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{699B03C7-0354-4989-A580-935E6353B0BF}</a:tableStyleId>
              </a:tblPr>
              <a:tblGrid>
                <a:gridCol w="2700000"/>
                <a:gridCol w="2200000"/>
                <a:gridCol w="2200000"/>
                <a:gridCol w="1700000"/>
                <a:gridCol w="2249000"/>
              </a:tblGrid>
              <a:tr h="95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8FAFC"/>
                          </a:solidFill>
                          <a:latin typeface="Sora"/>
                          <a:ea typeface="Sora"/>
                          <a:cs typeface="Sora"/>
                          <a:sym typeface="Sora"/>
                        </a:rPr>
                        <a:t>Metric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8FAFC"/>
                          </a:solidFill>
                          <a:latin typeface="Sora"/>
                          <a:ea typeface="Sora"/>
                          <a:cs typeface="Sora"/>
                          <a:sym typeface="Sora"/>
                        </a:rPr>
                        <a:t>Deliveroo (Avg)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8FAFC"/>
                          </a:solidFill>
                          <a:latin typeface="Sora"/>
                          <a:ea typeface="Sora"/>
                          <a:cs typeface="Sora"/>
                          <a:sym typeface="Sora"/>
                        </a:rPr>
                        <a:t>Glovo (Avg)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8FAFC"/>
                          </a:solidFill>
                          <a:latin typeface="Sora"/>
                          <a:ea typeface="Sora"/>
                          <a:cs typeface="Sora"/>
                          <a:sym typeface="Sora"/>
                        </a:rPr>
                        <a:t>p-value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8FAFC"/>
                          </a:solidFill>
                          <a:latin typeface="Sora"/>
                          <a:ea typeface="Sora"/>
                          <a:cs typeface="Sora"/>
                          <a:sym typeface="Sora"/>
                        </a:rPr>
                        <a:t>Significance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1220"/>
                    </a:solidFill>
                  </a:tcPr>
                </a:tc>
              </a:tr>
              <a:tr h="95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Success Rate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92%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85%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0.042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Significant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</a:tr>
              <a:tr h="95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Time on Task (s)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45.2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58.1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0.001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High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</a:tr>
              <a:tr h="95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SUS Score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78.5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72.1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0.125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Not Significant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</a:tr>
              <a:tr h="95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Error Rate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0.5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1.2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0.033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Significant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</a:tr>
            </a:tbl>
          </a:graphicData>
        </a:graphic>
      </p:graphicFrame>
      <p:sp>
        <p:nvSpPr>
          <p:cNvPr id="166" name="TABLE_FOOTNOTE"/>
          <p:cNvSpPr txBox="1"/>
          <p:nvPr/>
        </p:nvSpPr>
        <p:spPr>
          <a:xfrm>
            <a:off x="647700" y="6376675"/>
            <a:ext cx="11049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[TABLE_FOOTNOTE]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TEMPLATE_ID_table_large_neutral"/>
          <p:cNvSpPr txBox="1"/>
          <p:nvPr/>
        </p:nvSpPr>
        <p:spPr>
          <a:xfrm>
            <a:off x="-1828800" y="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TEMPLATE_ID:table_large_neutral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2" title="Background 6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TABLE_TITLE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[TABLE_TITLE]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22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74" name="TABLE_MAIN"/>
          <p:cNvGraphicFramePr/>
          <p:nvPr/>
        </p:nvGraphicFramePr>
        <p:xfrm>
          <a:off x="571500" y="153352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{699B03C7-0354-4989-A580-935E6353B0BF}</a:tableStyleId>
              </a:tblPr>
              <a:tblGrid>
                <a:gridCol w="2700000"/>
                <a:gridCol w="2200000"/>
                <a:gridCol w="2200000"/>
                <a:gridCol w="1700000"/>
                <a:gridCol w="2249000"/>
              </a:tblGrid>
              <a:tr h="95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8FAFC"/>
                          </a:solidFill>
                          <a:latin typeface="Sora"/>
                          <a:ea typeface="Sora"/>
                          <a:cs typeface="Sora"/>
                          <a:sym typeface="Sora"/>
                        </a:rPr>
                        <a:t>Metric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8FAFC"/>
                          </a:solidFill>
                          <a:latin typeface="Sora"/>
                          <a:ea typeface="Sora"/>
                          <a:cs typeface="Sora"/>
                          <a:sym typeface="Sora"/>
                        </a:rPr>
                        <a:t>Deliveroo (Avg)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8FAFC"/>
                          </a:solidFill>
                          <a:latin typeface="Sora"/>
                          <a:ea typeface="Sora"/>
                          <a:cs typeface="Sora"/>
                          <a:sym typeface="Sora"/>
                        </a:rPr>
                        <a:t>Glovo (Avg)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8FAFC"/>
                          </a:solidFill>
                          <a:latin typeface="Sora"/>
                          <a:ea typeface="Sora"/>
                          <a:cs typeface="Sora"/>
                          <a:sym typeface="Sora"/>
                        </a:rPr>
                        <a:t>p-value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8FAFC"/>
                          </a:solidFill>
                          <a:latin typeface="Sora"/>
                          <a:ea typeface="Sora"/>
                          <a:cs typeface="Sora"/>
                          <a:sym typeface="Sora"/>
                        </a:rPr>
                        <a:t>Significance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1220"/>
                    </a:solidFill>
                  </a:tcPr>
                </a:tc>
              </a:tr>
              <a:tr h="95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Success Rate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92%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85%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0.042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Significant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</a:tr>
              <a:tr h="95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Time on Task (s)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45.2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58.1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0.001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High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</a:tr>
              <a:tr h="95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SUS Score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78.5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72.1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0.125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Not Significant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</a:tr>
              <a:tr h="95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Error Rate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0.5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1.2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0.033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Significant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</a:tr>
            </a:tbl>
          </a:graphicData>
        </a:graphic>
      </p:graphicFrame>
      <p:sp>
        <p:nvSpPr>
          <p:cNvPr id="175" name="TABLE_FOOTNOTE"/>
          <p:cNvSpPr txBox="1"/>
          <p:nvPr/>
        </p:nvSpPr>
        <p:spPr>
          <a:xfrm>
            <a:off x="647700" y="6376675"/>
            <a:ext cx="11049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[TABLE_FOOTNOTE]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TEMPLATE_ID_table_large_deliveroo"/>
          <p:cNvSpPr txBox="1"/>
          <p:nvPr/>
        </p:nvSpPr>
        <p:spPr>
          <a:xfrm>
            <a:off x="-1828800" y="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TEMPLATE_ID:table_large_deliveroo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Google Shape;180;p23" title="Background 7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TABLE_TITLE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[TABLE_TITLE]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23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83" name="TABLE_MAIN"/>
          <p:cNvGraphicFramePr/>
          <p:nvPr/>
        </p:nvGraphicFramePr>
        <p:xfrm>
          <a:off x="571500" y="153352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{699B03C7-0354-4989-A580-935E6353B0BF}</a:tableStyleId>
              </a:tblPr>
              <a:tblGrid>
                <a:gridCol w="2700000"/>
                <a:gridCol w="2200000"/>
                <a:gridCol w="2200000"/>
                <a:gridCol w="1700000"/>
                <a:gridCol w="2249000"/>
              </a:tblGrid>
              <a:tr h="95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8FAFC"/>
                          </a:solidFill>
                          <a:latin typeface="Sora"/>
                          <a:ea typeface="Sora"/>
                          <a:cs typeface="Sora"/>
                          <a:sym typeface="Sora"/>
                        </a:rPr>
                        <a:t>Metric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8FAFC"/>
                          </a:solidFill>
                          <a:latin typeface="Sora"/>
                          <a:ea typeface="Sora"/>
                          <a:cs typeface="Sora"/>
                          <a:sym typeface="Sora"/>
                        </a:rPr>
                        <a:t>Deliveroo (Avg)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8FAFC"/>
                          </a:solidFill>
                          <a:latin typeface="Sora"/>
                          <a:ea typeface="Sora"/>
                          <a:cs typeface="Sora"/>
                          <a:sym typeface="Sora"/>
                        </a:rPr>
                        <a:t>Glovo (Avg)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8FAFC"/>
                          </a:solidFill>
                          <a:latin typeface="Sora"/>
                          <a:ea typeface="Sora"/>
                          <a:cs typeface="Sora"/>
                          <a:sym typeface="Sora"/>
                        </a:rPr>
                        <a:t>p-value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8FAFC"/>
                          </a:solidFill>
                          <a:latin typeface="Sora"/>
                          <a:ea typeface="Sora"/>
                          <a:cs typeface="Sora"/>
                          <a:sym typeface="Sora"/>
                        </a:rPr>
                        <a:t>Significance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B1220"/>
                    </a:solidFill>
                  </a:tcPr>
                </a:tc>
              </a:tr>
              <a:tr h="95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Success Rate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92%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85%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0.042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Significant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</a:tr>
              <a:tr h="95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Time on Task (s)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45.2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58.1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0.001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High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</a:tr>
              <a:tr h="95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SUS Score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78.5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72.1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0.125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Not Significant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11827"/>
                    </a:solidFill>
                  </a:tcPr>
                </a:tc>
              </a:tr>
              <a:tr h="95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Error Rate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0.5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1.2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0.033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5E7EB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Significant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F2937"/>
                    </a:solidFill>
                  </a:tcPr>
                </a:tc>
              </a:tr>
            </a:tbl>
          </a:graphicData>
        </a:graphic>
      </p:graphicFrame>
      <p:sp>
        <p:nvSpPr>
          <p:cNvPr id="184" name="TABLE_FOOTNOTE"/>
          <p:cNvSpPr txBox="1"/>
          <p:nvPr/>
        </p:nvSpPr>
        <p:spPr>
          <a:xfrm>
            <a:off x="647700" y="6376675"/>
            <a:ext cx="11049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[TABLE_FOOTNOTE]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TEMPLATE_ID_table_large_glovo"/>
          <p:cNvSpPr txBox="1"/>
          <p:nvPr/>
        </p:nvSpPr>
        <p:spPr>
          <a:xfrm>
            <a:off x="-1828800" y="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TEMPLATE_ID:table_large_glovo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p24" title="Background 3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0" name="MINI_GRAPH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297813" y="1916400"/>
            <a:ext cx="4517632" cy="302520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FINDINGS_TITLE"/>
          <p:cNvSpPr txBox="1"/>
          <p:nvPr/>
        </p:nvSpPr>
        <p:spPr>
          <a:xfrm>
            <a:off x="759450" y="1049025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KEY FINDINGS &amp; INSIGHTS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4"/>
          <p:cNvSpPr/>
          <p:nvPr/>
        </p:nvSpPr>
        <p:spPr>
          <a:xfrm>
            <a:off x="530850" y="1049025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FINDING_1"/>
          <p:cNvSpPr txBox="1"/>
          <p:nvPr/>
        </p:nvSpPr>
        <p:spPr>
          <a:xfrm>
            <a:off x="968113" y="2393925"/>
            <a:ext cx="60198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[FINDING_1]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FINDING_2"/>
          <p:cNvSpPr txBox="1"/>
          <p:nvPr/>
        </p:nvSpPr>
        <p:spPr>
          <a:xfrm>
            <a:off x="968113" y="3089250"/>
            <a:ext cx="60198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[FINDING_2]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FINDING_3"/>
          <p:cNvSpPr txBox="1"/>
          <p:nvPr/>
        </p:nvSpPr>
        <p:spPr>
          <a:xfrm>
            <a:off x="968113" y="3784575"/>
            <a:ext cx="60198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[FINDING_3]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FINDING_4"/>
          <p:cNvSpPr txBox="1"/>
          <p:nvPr/>
        </p:nvSpPr>
        <p:spPr>
          <a:xfrm>
            <a:off x="968113" y="4479900"/>
            <a:ext cx="60198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[FINDING_4]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97" name="Google Shape;197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76570" y="2393925"/>
            <a:ext cx="426185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8" name="Google Shape;198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76563" y="3089242"/>
            <a:ext cx="426200" cy="4617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9" name="Google Shape;199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76563" y="3784567"/>
            <a:ext cx="426200" cy="4617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0" name="Google Shape;200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76563" y="4479892"/>
            <a:ext cx="426200" cy="461717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SUMMARY_TEXT"/>
          <p:cNvSpPr txBox="1"/>
          <p:nvPr/>
        </p:nvSpPr>
        <p:spPr>
          <a:xfrm>
            <a:off x="7426950" y="944875"/>
            <a:ext cx="43884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E5E7EB"/>
                </a:solidFill>
                <a:latin typeface="Arial"/>
                <a:ea typeface="Arial"/>
                <a:cs typeface="Arial"/>
                <a:sym typeface="Arial"/>
              </a:rPr>
              <a:t>[SUMMARY_TEXT]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TEMPLATE_ID_findings_neutral"/>
          <p:cNvSpPr txBox="1"/>
          <p:nvPr/>
        </p:nvSpPr>
        <p:spPr>
          <a:xfrm>
            <a:off x="-1828800" y="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TEMPLATE_ID:findings_neutral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5" title="Background 6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7" name="MINI_GRAPH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297813" y="1916400"/>
            <a:ext cx="4517632" cy="3025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FINDINGS_TITLE"/>
          <p:cNvSpPr txBox="1"/>
          <p:nvPr/>
        </p:nvSpPr>
        <p:spPr>
          <a:xfrm>
            <a:off x="759450" y="1049025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KEY FINDINGS &amp; INSIGHTS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25"/>
          <p:cNvSpPr/>
          <p:nvPr/>
        </p:nvSpPr>
        <p:spPr>
          <a:xfrm>
            <a:off x="530850" y="1049025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FINDING_1"/>
          <p:cNvSpPr txBox="1"/>
          <p:nvPr/>
        </p:nvSpPr>
        <p:spPr>
          <a:xfrm>
            <a:off x="968113" y="2393925"/>
            <a:ext cx="601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[FINDING_1]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FINDING_2"/>
          <p:cNvSpPr txBox="1"/>
          <p:nvPr/>
        </p:nvSpPr>
        <p:spPr>
          <a:xfrm>
            <a:off x="968113" y="3089250"/>
            <a:ext cx="601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[FINDING_2]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FINDING_3"/>
          <p:cNvSpPr txBox="1"/>
          <p:nvPr/>
        </p:nvSpPr>
        <p:spPr>
          <a:xfrm>
            <a:off x="968113" y="3784575"/>
            <a:ext cx="601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[FINDING_3]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FINDING_4"/>
          <p:cNvSpPr txBox="1"/>
          <p:nvPr/>
        </p:nvSpPr>
        <p:spPr>
          <a:xfrm>
            <a:off x="968113" y="4479900"/>
            <a:ext cx="6019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[FINDING_4]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14" name="Google Shape;214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76570" y="2393925"/>
            <a:ext cx="426185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5" name="Google Shape;215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76563" y="3089242"/>
            <a:ext cx="426200" cy="4617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6" name="Google Shape;216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76563" y="3784567"/>
            <a:ext cx="426200" cy="4617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7" name="Google Shape;217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76563" y="4479892"/>
            <a:ext cx="426200" cy="461717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SUMMARY_TEXT"/>
          <p:cNvSpPr txBox="1"/>
          <p:nvPr/>
        </p:nvSpPr>
        <p:spPr>
          <a:xfrm>
            <a:off x="7426950" y="944875"/>
            <a:ext cx="43884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E5E7EB"/>
                </a:solidFill>
                <a:latin typeface="Arial"/>
                <a:ea typeface="Arial"/>
                <a:cs typeface="Arial"/>
                <a:sym typeface="Arial"/>
              </a:rPr>
              <a:t>[SUMMARY_TEXT]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TEMPLATE_ID_findings_deliveroo"/>
          <p:cNvSpPr txBox="1"/>
          <p:nvPr/>
        </p:nvSpPr>
        <p:spPr>
          <a:xfrm>
            <a:off x="-1828800" y="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TEMPLATE_ID:findings_deliveroo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26" title="Background 7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4" name="MINI_GRAPH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297813" y="1916400"/>
            <a:ext cx="4517632" cy="302520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FINDINGS_TITLE"/>
          <p:cNvSpPr txBox="1"/>
          <p:nvPr/>
        </p:nvSpPr>
        <p:spPr>
          <a:xfrm>
            <a:off x="759450" y="1049025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KEY FINDINGS &amp; INSIGHTS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26"/>
          <p:cNvSpPr/>
          <p:nvPr/>
        </p:nvSpPr>
        <p:spPr>
          <a:xfrm>
            <a:off x="530850" y="1049025"/>
            <a:ext cx="76200" cy="5811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FINDING_1"/>
          <p:cNvSpPr txBox="1"/>
          <p:nvPr/>
        </p:nvSpPr>
        <p:spPr>
          <a:xfrm>
            <a:off x="968113" y="2509275"/>
            <a:ext cx="60198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[FINDING_1]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FINDING_2"/>
          <p:cNvSpPr txBox="1"/>
          <p:nvPr/>
        </p:nvSpPr>
        <p:spPr>
          <a:xfrm>
            <a:off x="968113" y="3204600"/>
            <a:ext cx="60198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[FINDING_2]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FINDING_3"/>
          <p:cNvSpPr txBox="1"/>
          <p:nvPr/>
        </p:nvSpPr>
        <p:spPr>
          <a:xfrm>
            <a:off x="968113" y="3899925"/>
            <a:ext cx="60198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[FINDING_3]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FINDING_4"/>
          <p:cNvSpPr txBox="1"/>
          <p:nvPr/>
        </p:nvSpPr>
        <p:spPr>
          <a:xfrm>
            <a:off x="968113" y="4595250"/>
            <a:ext cx="60198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[FINDING_4]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31" name="Google Shape;231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76570" y="2393925"/>
            <a:ext cx="426185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2" name="Google Shape;232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76563" y="3089242"/>
            <a:ext cx="426200" cy="4617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3" name="Google Shape;233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76563" y="3784567"/>
            <a:ext cx="426200" cy="4617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4" name="Google Shape;234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76563" y="4479892"/>
            <a:ext cx="426200" cy="461717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SUMMARY_TEXT"/>
          <p:cNvSpPr txBox="1"/>
          <p:nvPr/>
        </p:nvSpPr>
        <p:spPr>
          <a:xfrm>
            <a:off x="7426950" y="944875"/>
            <a:ext cx="43884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E5E7EB"/>
                </a:solidFill>
                <a:latin typeface="Arial"/>
                <a:ea typeface="Arial"/>
                <a:cs typeface="Arial"/>
                <a:sym typeface="Arial"/>
              </a:rPr>
              <a:t>[SUMMARY_TEXT]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TEMPLATE_ID_findings_glovo"/>
          <p:cNvSpPr txBox="1"/>
          <p:nvPr/>
        </p:nvSpPr>
        <p:spPr>
          <a:xfrm>
            <a:off x="-1828800" y="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TEMPLATE_ID:findings_glovo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Google Shape;240;p27" title="Background 3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1" name="Google Shape;241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850" y="4127198"/>
            <a:ext cx="5334000" cy="133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TASK_TITLE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[TASK_TITLE]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2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7"/>
          <p:cNvSpPr txBox="1"/>
          <p:nvPr/>
        </p:nvSpPr>
        <p:spPr>
          <a:xfrm>
            <a:off x="571500" y="1533525"/>
            <a:ext cx="5600700" cy="2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4"/>
              <a:buFont typeface="Arial"/>
              <a:buNone/>
            </a:pPr>
            <a:r>
              <a:rPr b="1" i="0" lang="en-US" sz="1404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TASK DESCRIPTION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TASK_DESCRIPTION"/>
          <p:cNvSpPr txBox="1"/>
          <p:nvPr/>
        </p:nvSpPr>
        <p:spPr>
          <a:xfrm>
            <a:off x="571500" y="1895475"/>
            <a:ext cx="5334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[TASK_DESCRIPTION]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46" name="TASK_SCREENSHOT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1533525"/>
            <a:ext cx="5334000" cy="4752975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27"/>
          <p:cNvSpPr txBox="1"/>
          <p:nvPr/>
        </p:nvSpPr>
        <p:spPr>
          <a:xfrm>
            <a:off x="733350" y="4317698"/>
            <a:ext cx="5200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TASK RESULTS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27"/>
          <p:cNvSpPr/>
          <p:nvPr/>
        </p:nvSpPr>
        <p:spPr>
          <a:xfrm>
            <a:off x="733350" y="4603635"/>
            <a:ext cx="4953000" cy="960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7"/>
          <p:cNvSpPr txBox="1"/>
          <p:nvPr/>
        </p:nvSpPr>
        <p:spPr>
          <a:xfrm>
            <a:off x="733350" y="4803473"/>
            <a:ext cx="866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SUCCESS RATE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SUCCESS_RATE_VALUE"/>
          <p:cNvSpPr txBox="1"/>
          <p:nvPr/>
        </p:nvSpPr>
        <p:spPr>
          <a:xfrm>
            <a:off x="733350" y="4955873"/>
            <a:ext cx="18501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8FAFC"/>
                </a:solidFill>
                <a:latin typeface="Bebas Neue"/>
                <a:ea typeface="Bebas Neue"/>
                <a:cs typeface="Bebas Neue"/>
                <a:sym typeface="Bebas Neue"/>
              </a:rPr>
              <a:t>[SUCCESS_RATE]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27"/>
          <p:cNvSpPr txBox="1"/>
          <p:nvPr/>
        </p:nvSpPr>
        <p:spPr>
          <a:xfrm>
            <a:off x="5038650" y="4803473"/>
            <a:ext cx="5334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AVG TIME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AVG_TIME_VALUE"/>
          <p:cNvSpPr txBox="1"/>
          <p:nvPr/>
        </p:nvSpPr>
        <p:spPr>
          <a:xfrm>
            <a:off x="4670000" y="5079723"/>
            <a:ext cx="1599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8FAFC"/>
                </a:solidFill>
                <a:latin typeface="Bebas Neue"/>
                <a:ea typeface="Bebas Neue"/>
                <a:cs typeface="Bebas Neue"/>
                <a:sym typeface="Bebas Neue"/>
              </a:rPr>
              <a:t>[AVG_TIME]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TEMPLATE_ID_task_results_neutral"/>
          <p:cNvSpPr txBox="1"/>
          <p:nvPr/>
        </p:nvSpPr>
        <p:spPr>
          <a:xfrm>
            <a:off x="-1828800" y="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TEMPLATE_ID:task_results_neutral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p28" title="Background 7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8" name="Google Shape;258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850" y="4127198"/>
            <a:ext cx="5334000" cy="133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TASK_TITLE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[TASK_TITLE]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28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8"/>
          <p:cNvSpPr txBox="1"/>
          <p:nvPr/>
        </p:nvSpPr>
        <p:spPr>
          <a:xfrm>
            <a:off x="571500" y="1533525"/>
            <a:ext cx="56007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4"/>
              <a:buFont typeface="Arial"/>
              <a:buNone/>
            </a:pPr>
            <a:r>
              <a:rPr b="1" i="0" lang="en-US" sz="1404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TASK DESCRIPTION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TASK_DESCRIPTION"/>
          <p:cNvSpPr txBox="1"/>
          <p:nvPr/>
        </p:nvSpPr>
        <p:spPr>
          <a:xfrm>
            <a:off x="571500" y="1895475"/>
            <a:ext cx="53340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[TASK_DESCRIPTION]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63" name="TASK_SCREENSHOT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1533525"/>
            <a:ext cx="5334000" cy="4752975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28"/>
          <p:cNvSpPr txBox="1"/>
          <p:nvPr/>
        </p:nvSpPr>
        <p:spPr>
          <a:xfrm>
            <a:off x="733350" y="4317698"/>
            <a:ext cx="5200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TASK RESULTS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28"/>
          <p:cNvSpPr/>
          <p:nvPr/>
        </p:nvSpPr>
        <p:spPr>
          <a:xfrm>
            <a:off x="733350" y="4603635"/>
            <a:ext cx="4953000" cy="960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8"/>
          <p:cNvSpPr txBox="1"/>
          <p:nvPr/>
        </p:nvSpPr>
        <p:spPr>
          <a:xfrm>
            <a:off x="733350" y="4803473"/>
            <a:ext cx="866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SUCCESS RATE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SUCCESS_RATE_VALUE"/>
          <p:cNvSpPr txBox="1"/>
          <p:nvPr/>
        </p:nvSpPr>
        <p:spPr>
          <a:xfrm>
            <a:off x="733350" y="4955873"/>
            <a:ext cx="1850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8FAFC"/>
                </a:solidFill>
                <a:latin typeface="Bebas Neue"/>
                <a:ea typeface="Bebas Neue"/>
                <a:cs typeface="Bebas Neue"/>
                <a:sym typeface="Bebas Neue"/>
              </a:rPr>
              <a:t>[SUCCESS_RATE]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28"/>
          <p:cNvSpPr txBox="1"/>
          <p:nvPr/>
        </p:nvSpPr>
        <p:spPr>
          <a:xfrm>
            <a:off x="5038650" y="4803473"/>
            <a:ext cx="5334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AVG TIME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AVG_TIME_VALUE"/>
          <p:cNvSpPr txBox="1"/>
          <p:nvPr/>
        </p:nvSpPr>
        <p:spPr>
          <a:xfrm>
            <a:off x="4670000" y="5079723"/>
            <a:ext cx="1600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8FAFC"/>
                </a:solidFill>
                <a:latin typeface="Bebas Neue"/>
                <a:ea typeface="Bebas Neue"/>
                <a:cs typeface="Bebas Neue"/>
                <a:sym typeface="Bebas Neue"/>
              </a:rPr>
              <a:t>[AVG_TIME]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TEMPLATE_ID_task_results_deliveroo"/>
          <p:cNvSpPr txBox="1"/>
          <p:nvPr/>
        </p:nvSpPr>
        <p:spPr>
          <a:xfrm>
            <a:off x="-1828800" y="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TEMPLATE_ID:task_results_deliveroo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4" name="Google Shape;274;p29" title="Background 6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5" name="Google Shape;275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850" y="4127198"/>
            <a:ext cx="5334000" cy="133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TASK_TITLE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[TASK_TITLE]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29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9"/>
          <p:cNvSpPr txBox="1"/>
          <p:nvPr/>
        </p:nvSpPr>
        <p:spPr>
          <a:xfrm>
            <a:off x="571500" y="1533525"/>
            <a:ext cx="5600700" cy="2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4"/>
              <a:buFont typeface="Arial"/>
              <a:buNone/>
            </a:pPr>
            <a:r>
              <a:rPr b="1" i="0" lang="en-US" sz="1404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TASK DESCRIPTION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TASK_DESCRIPTION"/>
          <p:cNvSpPr txBox="1"/>
          <p:nvPr/>
        </p:nvSpPr>
        <p:spPr>
          <a:xfrm>
            <a:off x="571500" y="1895475"/>
            <a:ext cx="5334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[TASK_DESCRIPTION]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80" name="TASK_SCREENSHOT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1533525"/>
            <a:ext cx="5334000" cy="4752975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29"/>
          <p:cNvSpPr txBox="1"/>
          <p:nvPr/>
        </p:nvSpPr>
        <p:spPr>
          <a:xfrm>
            <a:off x="733350" y="4317698"/>
            <a:ext cx="5200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TASK RESULTS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29"/>
          <p:cNvSpPr/>
          <p:nvPr/>
        </p:nvSpPr>
        <p:spPr>
          <a:xfrm>
            <a:off x="733350" y="4603635"/>
            <a:ext cx="4953000" cy="960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9"/>
          <p:cNvSpPr txBox="1"/>
          <p:nvPr/>
        </p:nvSpPr>
        <p:spPr>
          <a:xfrm>
            <a:off x="733350" y="4803473"/>
            <a:ext cx="866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SUCCESS RATE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SUCCESS_RATE_VALUE"/>
          <p:cNvSpPr txBox="1"/>
          <p:nvPr/>
        </p:nvSpPr>
        <p:spPr>
          <a:xfrm>
            <a:off x="733350" y="4955873"/>
            <a:ext cx="18501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8FAFC"/>
                </a:solidFill>
                <a:latin typeface="Bebas Neue"/>
                <a:ea typeface="Bebas Neue"/>
                <a:cs typeface="Bebas Neue"/>
                <a:sym typeface="Bebas Neue"/>
              </a:rPr>
              <a:t>[SUCCESS_RATE]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29"/>
          <p:cNvSpPr txBox="1"/>
          <p:nvPr/>
        </p:nvSpPr>
        <p:spPr>
          <a:xfrm>
            <a:off x="5038650" y="4803473"/>
            <a:ext cx="5334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AVG TIME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AVG_TIME_VALUE"/>
          <p:cNvSpPr txBox="1"/>
          <p:nvPr/>
        </p:nvSpPr>
        <p:spPr>
          <a:xfrm>
            <a:off x="4670000" y="5079723"/>
            <a:ext cx="1599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8FAFC"/>
                </a:solidFill>
                <a:latin typeface="Bebas Neue"/>
                <a:ea typeface="Bebas Neue"/>
                <a:cs typeface="Bebas Neue"/>
                <a:sym typeface="Bebas Neue"/>
              </a:rPr>
              <a:t>[AVG_TIME]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TEMPLATE_ID_task_results_glovo"/>
          <p:cNvSpPr txBox="1"/>
          <p:nvPr/>
        </p:nvSpPr>
        <p:spPr>
          <a:xfrm>
            <a:off x="-1828800" y="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TEMPLATE_ID:task_results_glovo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1" name="Google Shape;291;p30" title="Background 3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2" name="BOXPLOT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533525"/>
            <a:ext cx="1104900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3" name="Google Shape;293;p3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5153025"/>
            <a:ext cx="2619375" cy="1057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4" name="Google Shape;294;p3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81375" y="5153025"/>
            <a:ext cx="2619375" cy="1057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5" name="Google Shape;295;p3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91250" y="5153025"/>
            <a:ext cx="2619375" cy="1057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6" name="Google Shape;296;p3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001125" y="5153025"/>
            <a:ext cx="2619375" cy="1057275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QUESTION_TITLE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[QUESTION_TITLE]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30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MEAN_VALUE"/>
          <p:cNvSpPr txBox="1"/>
          <p:nvPr/>
        </p:nvSpPr>
        <p:spPr>
          <a:xfrm>
            <a:off x="762000" y="5343525"/>
            <a:ext cx="223837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8FAFC"/>
                </a:solidFill>
                <a:latin typeface="Bebas Neue"/>
                <a:ea typeface="Bebas Neue"/>
                <a:cs typeface="Bebas Neue"/>
                <a:sym typeface="Bebas Neue"/>
              </a:rPr>
              <a:t>[MEAN_VALUE]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30"/>
          <p:cNvSpPr txBox="1"/>
          <p:nvPr/>
        </p:nvSpPr>
        <p:spPr>
          <a:xfrm>
            <a:off x="762000" y="5848350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MEAN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STD_VALUE"/>
          <p:cNvSpPr txBox="1"/>
          <p:nvPr/>
        </p:nvSpPr>
        <p:spPr>
          <a:xfrm>
            <a:off x="3571875" y="5343525"/>
            <a:ext cx="223837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8FAFC"/>
                </a:solidFill>
                <a:latin typeface="Bebas Neue"/>
                <a:ea typeface="Bebas Neue"/>
                <a:cs typeface="Bebas Neue"/>
                <a:sym typeface="Bebas Neue"/>
              </a:rPr>
              <a:t>[STD_VALUE]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30"/>
          <p:cNvSpPr txBox="1"/>
          <p:nvPr/>
        </p:nvSpPr>
        <p:spPr>
          <a:xfrm>
            <a:off x="3571875" y="5848350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STD DEV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MIN_VALUE"/>
          <p:cNvSpPr txBox="1"/>
          <p:nvPr/>
        </p:nvSpPr>
        <p:spPr>
          <a:xfrm>
            <a:off x="6381750" y="5343525"/>
            <a:ext cx="223837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8FAFC"/>
                </a:solidFill>
                <a:latin typeface="Bebas Neue"/>
                <a:ea typeface="Bebas Neue"/>
                <a:cs typeface="Bebas Neue"/>
                <a:sym typeface="Bebas Neue"/>
              </a:rPr>
              <a:t>[MIN_VALUE]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30"/>
          <p:cNvSpPr txBox="1"/>
          <p:nvPr/>
        </p:nvSpPr>
        <p:spPr>
          <a:xfrm>
            <a:off x="6381750" y="5848350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MIN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MAX_VALUE"/>
          <p:cNvSpPr txBox="1"/>
          <p:nvPr/>
        </p:nvSpPr>
        <p:spPr>
          <a:xfrm>
            <a:off x="9191625" y="5343525"/>
            <a:ext cx="223837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8FAFC"/>
                </a:solidFill>
                <a:latin typeface="Bebas Neue"/>
                <a:ea typeface="Bebas Neue"/>
                <a:cs typeface="Bebas Neue"/>
                <a:sym typeface="Bebas Neue"/>
              </a:rPr>
              <a:t>[MAX_VALUE]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30"/>
          <p:cNvSpPr txBox="1"/>
          <p:nvPr/>
        </p:nvSpPr>
        <p:spPr>
          <a:xfrm>
            <a:off x="9191625" y="5848350"/>
            <a:ext cx="223837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MAX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TEMPLATE_ID_ueq_question_neutral"/>
          <p:cNvSpPr txBox="1"/>
          <p:nvPr/>
        </p:nvSpPr>
        <p:spPr>
          <a:xfrm>
            <a:off x="-1828800" y="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TEMPLATE_ID:ueq_question_neutral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31" title="Background 6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2" name="BOXPLOT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533525"/>
            <a:ext cx="1104900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3" name="Google Shape;313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5153025"/>
            <a:ext cx="2619375" cy="1057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4" name="Google Shape;314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81375" y="5153025"/>
            <a:ext cx="2619375" cy="1057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5" name="Google Shape;315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91250" y="5153025"/>
            <a:ext cx="2619375" cy="1057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6" name="Google Shape;316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001125" y="5153025"/>
            <a:ext cx="2619375" cy="1057275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QUESTION_TITLE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[QUESTION_TITLE]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31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MEAN_VALUE"/>
          <p:cNvSpPr txBox="1"/>
          <p:nvPr/>
        </p:nvSpPr>
        <p:spPr>
          <a:xfrm>
            <a:off x="762000" y="5343525"/>
            <a:ext cx="22383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8FAFC"/>
                </a:solidFill>
                <a:latin typeface="Bebas Neue"/>
                <a:ea typeface="Bebas Neue"/>
                <a:cs typeface="Bebas Neue"/>
                <a:sym typeface="Bebas Neue"/>
              </a:rPr>
              <a:t>[MEAN_VALUE]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31"/>
          <p:cNvSpPr txBox="1"/>
          <p:nvPr/>
        </p:nvSpPr>
        <p:spPr>
          <a:xfrm>
            <a:off x="762000" y="5848350"/>
            <a:ext cx="2238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MEAN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STD_VALUE"/>
          <p:cNvSpPr txBox="1"/>
          <p:nvPr/>
        </p:nvSpPr>
        <p:spPr>
          <a:xfrm>
            <a:off x="3571875" y="5343525"/>
            <a:ext cx="22383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8FAFC"/>
                </a:solidFill>
                <a:latin typeface="Bebas Neue"/>
                <a:ea typeface="Bebas Neue"/>
                <a:cs typeface="Bebas Neue"/>
                <a:sym typeface="Bebas Neue"/>
              </a:rPr>
              <a:t>[STD_VALUE]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31"/>
          <p:cNvSpPr txBox="1"/>
          <p:nvPr/>
        </p:nvSpPr>
        <p:spPr>
          <a:xfrm>
            <a:off x="3571875" y="5848350"/>
            <a:ext cx="2238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STD DEV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MIN_VALUE"/>
          <p:cNvSpPr txBox="1"/>
          <p:nvPr/>
        </p:nvSpPr>
        <p:spPr>
          <a:xfrm>
            <a:off x="6381750" y="5343525"/>
            <a:ext cx="22383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8FAFC"/>
                </a:solidFill>
                <a:latin typeface="Bebas Neue"/>
                <a:ea typeface="Bebas Neue"/>
                <a:cs typeface="Bebas Neue"/>
                <a:sym typeface="Bebas Neue"/>
              </a:rPr>
              <a:t>[MIN_VALUE]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31"/>
          <p:cNvSpPr txBox="1"/>
          <p:nvPr/>
        </p:nvSpPr>
        <p:spPr>
          <a:xfrm>
            <a:off x="6381750" y="5848350"/>
            <a:ext cx="2238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MIN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MAX_VALUE"/>
          <p:cNvSpPr txBox="1"/>
          <p:nvPr/>
        </p:nvSpPr>
        <p:spPr>
          <a:xfrm>
            <a:off x="9191625" y="5343525"/>
            <a:ext cx="22383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8FAFC"/>
                </a:solidFill>
                <a:latin typeface="Bebas Neue"/>
                <a:ea typeface="Bebas Neue"/>
                <a:cs typeface="Bebas Neue"/>
                <a:sym typeface="Bebas Neue"/>
              </a:rPr>
              <a:t>[MAX_VALUE]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31"/>
          <p:cNvSpPr txBox="1"/>
          <p:nvPr/>
        </p:nvSpPr>
        <p:spPr>
          <a:xfrm>
            <a:off x="9191625" y="5848350"/>
            <a:ext cx="2238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MAX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TEMPLATE_ID_ueq_question_deliveroo"/>
          <p:cNvSpPr txBox="1"/>
          <p:nvPr/>
        </p:nvSpPr>
        <p:spPr>
          <a:xfrm>
            <a:off x="-1828800" y="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TEMPLATE_ID:ueq_question_deliveroo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1" name="Google Shape;331;p32" title="Background 7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2" name="BOXPLOT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533525"/>
            <a:ext cx="1104900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3" name="Google Shape;333;p3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5153025"/>
            <a:ext cx="2619375" cy="1057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4" name="Google Shape;334;p3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81375" y="5153025"/>
            <a:ext cx="2619375" cy="1057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5" name="Google Shape;335;p3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91250" y="5153025"/>
            <a:ext cx="2619375" cy="1057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6" name="Google Shape;336;p3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001125" y="5153025"/>
            <a:ext cx="2619375" cy="1057275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QUESTION_TITLE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[QUESTION_TITLE]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32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MEAN_VALUE"/>
          <p:cNvSpPr txBox="1"/>
          <p:nvPr/>
        </p:nvSpPr>
        <p:spPr>
          <a:xfrm>
            <a:off x="762000" y="5343525"/>
            <a:ext cx="22383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8FAFC"/>
                </a:solidFill>
                <a:latin typeface="Bebas Neue"/>
                <a:ea typeface="Bebas Neue"/>
                <a:cs typeface="Bebas Neue"/>
                <a:sym typeface="Bebas Neue"/>
              </a:rPr>
              <a:t>[MEAN_VALUE]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32"/>
          <p:cNvSpPr txBox="1"/>
          <p:nvPr/>
        </p:nvSpPr>
        <p:spPr>
          <a:xfrm>
            <a:off x="762000" y="5848350"/>
            <a:ext cx="2238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MEAN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STD_VALUE"/>
          <p:cNvSpPr txBox="1"/>
          <p:nvPr/>
        </p:nvSpPr>
        <p:spPr>
          <a:xfrm>
            <a:off x="3571875" y="5343525"/>
            <a:ext cx="22383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8FAFC"/>
                </a:solidFill>
                <a:latin typeface="Bebas Neue"/>
                <a:ea typeface="Bebas Neue"/>
                <a:cs typeface="Bebas Neue"/>
                <a:sym typeface="Bebas Neue"/>
              </a:rPr>
              <a:t>[STD_VALUE]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32"/>
          <p:cNvSpPr txBox="1"/>
          <p:nvPr/>
        </p:nvSpPr>
        <p:spPr>
          <a:xfrm>
            <a:off x="3571875" y="5848350"/>
            <a:ext cx="2238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STD DEV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MIN_VALUE"/>
          <p:cNvSpPr txBox="1"/>
          <p:nvPr/>
        </p:nvSpPr>
        <p:spPr>
          <a:xfrm>
            <a:off x="6381750" y="5343525"/>
            <a:ext cx="22383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8FAFC"/>
                </a:solidFill>
                <a:latin typeface="Bebas Neue"/>
                <a:ea typeface="Bebas Neue"/>
                <a:cs typeface="Bebas Neue"/>
                <a:sym typeface="Bebas Neue"/>
              </a:rPr>
              <a:t>[MIN_VALUE]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32"/>
          <p:cNvSpPr txBox="1"/>
          <p:nvPr/>
        </p:nvSpPr>
        <p:spPr>
          <a:xfrm>
            <a:off x="6381750" y="5848350"/>
            <a:ext cx="2238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MIN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MAX_VALUE"/>
          <p:cNvSpPr txBox="1"/>
          <p:nvPr/>
        </p:nvSpPr>
        <p:spPr>
          <a:xfrm>
            <a:off x="9191625" y="5343525"/>
            <a:ext cx="22383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8FAFC"/>
                </a:solidFill>
                <a:latin typeface="Bebas Neue"/>
                <a:ea typeface="Bebas Neue"/>
                <a:cs typeface="Bebas Neue"/>
                <a:sym typeface="Bebas Neue"/>
              </a:rPr>
              <a:t>[MAX_VALUE]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32"/>
          <p:cNvSpPr txBox="1"/>
          <p:nvPr/>
        </p:nvSpPr>
        <p:spPr>
          <a:xfrm>
            <a:off x="9191625" y="5848350"/>
            <a:ext cx="2238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MAX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TEMPLATE_ID_ueq_question_glovo"/>
          <p:cNvSpPr txBox="1"/>
          <p:nvPr/>
        </p:nvSpPr>
        <p:spPr>
          <a:xfrm>
            <a:off x="-1828800" y="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TEMPLATE_ID:ueq_question_glovo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p33" title="Background 5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2" name="SUMMARY_GRAPH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3790950"/>
            <a:ext cx="11049000" cy="2477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3" name="Google Shape;353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1533525"/>
            <a:ext cx="5381625" cy="1971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4" name="Google Shape;354;p3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38875" y="1533525"/>
            <a:ext cx="5381625" cy="19716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5" name="WINNER_LABEL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412291" y="194696"/>
            <a:ext cx="2003417" cy="1053082"/>
          </a:xfrm>
          <a:prstGeom prst="rect">
            <a:avLst/>
          </a:prstGeom>
          <a:noFill/>
          <a:ln>
            <a:noFill/>
          </a:ln>
        </p:spPr>
      </p:pic>
      <p:sp>
        <p:nvSpPr>
          <p:cNvPr id="356" name="FINAL_TITLE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FINAL VERDICT &amp; CONCLUSIONS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33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33"/>
          <p:cNvSpPr txBox="1"/>
          <p:nvPr/>
        </p:nvSpPr>
        <p:spPr>
          <a:xfrm>
            <a:off x="866775" y="1828800"/>
            <a:ext cx="5030628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4"/>
              <a:buFont typeface="Arial"/>
              <a:buNone/>
            </a:pPr>
            <a:r>
              <a:rPr b="1" i="0" lang="en-US" sz="1404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DELIVEROO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33"/>
          <p:cNvSpPr txBox="1"/>
          <p:nvPr/>
        </p:nvSpPr>
        <p:spPr>
          <a:xfrm>
            <a:off x="6534150" y="1828800"/>
            <a:ext cx="5030628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4"/>
              <a:buFont typeface="Arial"/>
              <a:buNone/>
            </a:pPr>
            <a:r>
              <a:rPr b="1" i="0" lang="en-US" sz="1404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GLOVO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DELIVEROO_STRENGTH_1"/>
          <p:cNvSpPr txBox="1"/>
          <p:nvPr/>
        </p:nvSpPr>
        <p:spPr>
          <a:xfrm>
            <a:off x="1247775" y="2238375"/>
            <a:ext cx="44100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[STRENGTH 1]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DELIVEROO_STRENGTH_2"/>
          <p:cNvSpPr txBox="1"/>
          <p:nvPr/>
        </p:nvSpPr>
        <p:spPr>
          <a:xfrm>
            <a:off x="1247775" y="2562225"/>
            <a:ext cx="44100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[STRENGTH 2]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DELIVEROO_WEAKNESS"/>
          <p:cNvSpPr txBox="1"/>
          <p:nvPr/>
        </p:nvSpPr>
        <p:spPr>
          <a:xfrm>
            <a:off x="1247775" y="2886075"/>
            <a:ext cx="44100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[WEAKNESS]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LOVO_STRENGTH_1"/>
          <p:cNvSpPr txBox="1"/>
          <p:nvPr/>
        </p:nvSpPr>
        <p:spPr>
          <a:xfrm>
            <a:off x="6915150" y="2238375"/>
            <a:ext cx="44100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[STRENGTH 1]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LOVO_STRENGTH_2"/>
          <p:cNvSpPr txBox="1"/>
          <p:nvPr/>
        </p:nvSpPr>
        <p:spPr>
          <a:xfrm>
            <a:off x="6915150" y="2562225"/>
            <a:ext cx="44100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[STRENGTH 2]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LOVO_WEAKNESS"/>
          <p:cNvSpPr txBox="1"/>
          <p:nvPr/>
        </p:nvSpPr>
        <p:spPr>
          <a:xfrm>
            <a:off x="6915150" y="2886075"/>
            <a:ext cx="44100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[WEAKNESS]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66" name="Google Shape;366;p3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66775" y="2238375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7" name="Google Shape;367;p3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66775" y="2562225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8" name="Google Shape;368;p3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534150" y="2238375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9" name="Google Shape;369;p3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534150" y="2562225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70" name="Google Shape;370;p3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63146" y="2876563"/>
            <a:ext cx="235857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71" name="Google Shape;371;p3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34150" y="2866085"/>
            <a:ext cx="228600" cy="240030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TEMPLATE_ID_final_verdict"/>
          <p:cNvSpPr txBox="1"/>
          <p:nvPr/>
        </p:nvSpPr>
        <p:spPr>
          <a:xfrm>
            <a:off x="-1828800" y="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TEMPLATE_ID:final_verdict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6" name="Google Shape;376;p34" title="Background 1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SOURCES_TITLE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E5E7EB"/>
                </a:solidFill>
                <a:latin typeface="Sora"/>
                <a:ea typeface="Sora"/>
                <a:cs typeface="Sora"/>
                <a:sym typeface="Sora"/>
              </a:rPr>
              <a:t>IMAGE SOURCES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34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79" name="Google Shape;379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67640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80" name="SOURCES_LIST"/>
          <p:cNvSpPr txBox="1"/>
          <p:nvPr/>
        </p:nvSpPr>
        <p:spPr>
          <a:xfrm>
            <a:off x="1666875" y="1719262"/>
            <a:ext cx="99536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975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https://s3.envato.com/files/390502005/01_Preview.__large_preview.png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34"/>
          <p:cNvSpPr txBox="1"/>
          <p:nvPr/>
        </p:nvSpPr>
        <p:spPr>
          <a:xfrm>
            <a:off x="1666875" y="1919287"/>
            <a:ext cx="995362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Source: themeforest.net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TEMPLATE_ID_sources"/>
          <p:cNvSpPr txBox="1"/>
          <p:nvPr/>
        </p:nvSpPr>
        <p:spPr>
          <a:xfrm>
            <a:off x="-1828800" y="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TEMPLATE_ID:sources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6" name="Google Shape;386;p35" title="Background 3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87" name="TEXT_TITLE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[TEXT_TITLE]</a:t>
            </a:r>
            <a:endParaRPr/>
          </a:p>
        </p:txBody>
      </p:sp>
      <p:sp>
        <p:nvSpPr>
          <p:cNvPr id="388" name="Google Shape;388;p35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TEMPLATE_ID_text_only_neutral"/>
          <p:cNvSpPr txBox="1"/>
          <p:nvPr/>
        </p:nvSpPr>
        <p:spPr>
          <a:xfrm>
            <a:off x="-1828800" y="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t>TEMPLATE_ID:text_only_neutral</a:t>
            </a:r>
          </a:p>
        </p:txBody>
      </p:sp>
      <p:sp>
        <p:nvSpPr>
          <p:cNvPr id="390" name="TEXT_BODY"/>
          <p:cNvSpPr txBox="1"/>
          <p:nvPr/>
        </p:nvSpPr>
        <p:spPr>
          <a:xfrm>
            <a:off x="1000000" y="1700000"/>
            <a:ext cx="101920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80000" lIns="80000" spcFirstLastPara="1" rIns="80000" wrap="square" tIns="800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[TEXT_BODY]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5" name="Google Shape;395;p36" title="Background 6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TEXT_TITLE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[TEXT_TITLE]</a:t>
            </a:r>
            <a:endParaRPr/>
          </a:p>
        </p:txBody>
      </p:sp>
      <p:sp>
        <p:nvSpPr>
          <p:cNvPr id="397" name="Google Shape;397;p36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TEMPLATE_ID_text_only_deliveroo"/>
          <p:cNvSpPr txBox="1"/>
          <p:nvPr/>
        </p:nvSpPr>
        <p:spPr>
          <a:xfrm>
            <a:off x="-1828800" y="0"/>
            <a:ext cx="914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t>TEMPLATE_ID:text_only_deliveroo</a:t>
            </a:r>
          </a:p>
        </p:txBody>
      </p:sp>
      <p:sp>
        <p:nvSpPr>
          <p:cNvPr id="399" name="TEXT_BODY"/>
          <p:cNvSpPr txBox="1"/>
          <p:nvPr/>
        </p:nvSpPr>
        <p:spPr>
          <a:xfrm>
            <a:off x="1000000" y="1700000"/>
            <a:ext cx="101919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80000" lIns="80000" spcFirstLastPara="1" rIns="80000" wrap="square" tIns="800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[TEXT_BODY]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4" name="Google Shape;404;p37" title="Background 7.png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TEXT_TITLE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[TEXT_TITLE]</a:t>
            </a:r>
            <a:endParaRPr/>
          </a:p>
        </p:txBody>
      </p:sp>
      <p:sp>
        <p:nvSpPr>
          <p:cNvPr id="406" name="Google Shape;406;p3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TEMPLATE_ID_text_only_glovo"/>
          <p:cNvSpPr txBox="1"/>
          <p:nvPr/>
        </p:nvSpPr>
        <p:spPr>
          <a:xfrm>
            <a:off x="-1828800" y="0"/>
            <a:ext cx="914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r>
              <a:t>TEMPLATE_ID:text_only_glovo</a:t>
            </a:r>
          </a:p>
        </p:txBody>
      </p:sp>
      <p:sp>
        <p:nvSpPr>
          <p:cNvPr id="408" name="TEXT_BODY"/>
          <p:cNvSpPr txBox="1"/>
          <p:nvPr/>
        </p:nvSpPr>
        <p:spPr>
          <a:xfrm>
            <a:off x="1000000" y="1700000"/>
            <a:ext cx="101919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80000" lIns="80000" spcFirstLastPara="1" rIns="80000" wrap="square" tIns="800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E5E7EB"/>
                </a:solidFill>
                <a:latin typeface="Inter"/>
                <a:ea typeface="Inter"/>
                <a:cs typeface="Inter"/>
                <a:sym typeface="Inter"/>
              </a:rPr>
              <a:t>[TEXT_BODY]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