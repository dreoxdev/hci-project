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2000"/>
  <p:notesSz cx="6858000" cy="9144000"/>
  <p:embeddedFontLst>
    <p:embeddedFont>
      <p:font typeface="Inter"/>
      <p:regular r:id="rId32"/>
      <p:bold r:id="rId33"/>
      <p:italic r:id="rId34"/>
      <p:boldItalic r:id="rId35"/>
    </p:embeddedFont>
    <p:embeddedFont>
      <p:font typeface="Bebas Neue"/>
      <p:regular r:id="rId36"/>
    </p:embeddedFont>
    <p:embeddedFont>
      <p:font typeface="Sora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28F073-FBF7-4A07-8987-1C9DE108B109}">
  <a:tblStyle styleId="{1E28F073-FBF7-4A07-8987-1C9DE108B10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Inter-bold.fntdata"/><Relationship Id="rId10" Type="http://schemas.openxmlformats.org/officeDocument/2006/relationships/slide" Target="slides/slide4.xml"/><Relationship Id="rId32" Type="http://schemas.openxmlformats.org/officeDocument/2006/relationships/font" Target="fonts/Inter-regular.fntdata"/><Relationship Id="rId13" Type="http://schemas.openxmlformats.org/officeDocument/2006/relationships/slide" Target="slides/slide7.xml"/><Relationship Id="rId35" Type="http://schemas.openxmlformats.org/officeDocument/2006/relationships/font" Target="fonts/Inter-boldItalic.fntdata"/><Relationship Id="rId12" Type="http://schemas.openxmlformats.org/officeDocument/2006/relationships/slide" Target="slides/slide6.xml"/><Relationship Id="rId34" Type="http://schemas.openxmlformats.org/officeDocument/2006/relationships/font" Target="fonts/Inter-italic.fntdata"/><Relationship Id="rId15" Type="http://schemas.openxmlformats.org/officeDocument/2006/relationships/slide" Target="slides/slide9.xml"/><Relationship Id="rId37" Type="http://schemas.openxmlformats.org/officeDocument/2006/relationships/font" Target="fonts/Sora-regular.fntdata"/><Relationship Id="rId14" Type="http://schemas.openxmlformats.org/officeDocument/2006/relationships/slide" Target="slides/slide8.xml"/><Relationship Id="rId36" Type="http://schemas.openxmlformats.org/officeDocument/2006/relationships/font" Target="fonts/BebasNeue-regular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Sora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3" name="Google Shape;15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4" name="Google Shape;17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4" name="Google Shape;184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4" name="Google Shape;194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8" name="Google Shape;248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4" name="Google Shape;284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3" name="Google Shape;323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65" name="Google Shape;36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91" name="Google Shape;39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02" name="Google Shape;402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11" name="Google Shape;411;p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20" name="Google Shape;420;p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3" name="Google Shape;23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14.png"/><Relationship Id="rId5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9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2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21.png"/><Relationship Id="rId9" Type="http://schemas.openxmlformats.org/officeDocument/2006/relationships/image" Target="../media/image24.png"/><Relationship Id="rId5" Type="http://schemas.openxmlformats.org/officeDocument/2006/relationships/image" Target="../media/image23.png"/><Relationship Id="rId6" Type="http://schemas.openxmlformats.org/officeDocument/2006/relationships/image" Target="../media/image22.png"/><Relationship Id="rId7" Type="http://schemas.openxmlformats.org/officeDocument/2006/relationships/image" Target="../media/image27.png"/><Relationship Id="rId8" Type="http://schemas.openxmlformats.org/officeDocument/2006/relationships/image" Target="../media/image1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Relationship Id="rId4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title="Background 5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324350" y="2300287"/>
            <a:ext cx="3543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en-US" sz="1050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Progetto HCI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2660570" y="2557462"/>
            <a:ext cx="6870858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60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[PROJECT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4419600" y="3509962"/>
            <a:ext cx="33528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[SUBTITLE GOES HERE]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133900" y="4132574"/>
            <a:ext cx="19242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 [AUTHORS]  [YEAR/DATE]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90" name="Google Shape;90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39713" y="4244246"/>
            <a:ext cx="245525" cy="19215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06749" y="4202200"/>
            <a:ext cx="245528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TEMPLATE_ID:cover</a:t>
            </a:r>
            <a:endParaRPr/>
          </a:p>
        </p:txBody>
      </p:sp>
      <p:pic>
        <p:nvPicPr>
          <p:cNvPr id="93" name="Google Shape;93;p13" title="logo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819300" y="1492175"/>
            <a:ext cx="553400" cy="55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467350" y="2709862"/>
            <a:ext cx="125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1625441" y="2967037"/>
            <a:ext cx="8941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[SECTION NAME]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14" title="Asset 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1015975"/>
            <a:ext cx="10286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TEMPLATE_ID:section_divider_neutral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title="Background 1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467350" y="2709862"/>
            <a:ext cx="125730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625441" y="2967037"/>
            <a:ext cx="8941117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[SECTION NAME]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" name="Google Shape;112;p15" title="Asset 1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1015975"/>
            <a:ext cx="10286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TEMPLATE_ID:section_divider_deliveroo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6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71500"/>
            <a:ext cx="11049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5467350" y="2709862"/>
            <a:ext cx="12573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SECTION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1625441" y="2967037"/>
            <a:ext cx="89412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0"/>
              <a:buFont typeface="Arial"/>
              <a:buNone/>
            </a:pPr>
            <a:r>
              <a:rPr b="1" i="0" lang="en-US" sz="75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[SECTION NAME]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6" title="Asset 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21750" y="1046500"/>
            <a:ext cx="10286999" cy="68579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TEMPLATE_ID:section_divider_glovo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7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[GRAPH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7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[INSIGHT_TEXT]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7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TEMPLATE_ID:graph_full_neutral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8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[GRAPH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[INSIGHT_TEXT]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TEMPLATE_ID:graph_full_deliveroo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9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9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[GRAPH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9"/>
          <p:cNvSpPr txBox="1"/>
          <p:nvPr/>
        </p:nvSpPr>
        <p:spPr>
          <a:xfrm>
            <a:off x="800100" y="1238250"/>
            <a:ext cx="10500000" cy="10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[INSIGHT_TEXT]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TEMPLATE_ID:graph_full_glovo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0" title="Background 0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6" name="Google Shape;15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39350"/>
            <a:ext cx="5334000" cy="3228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39350"/>
            <a:ext cx="5334000" cy="322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[COMPARISON 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2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0"/>
          <p:cNvSpPr txBox="1"/>
          <p:nvPr/>
        </p:nvSpPr>
        <p:spPr>
          <a:xfrm>
            <a:off x="571500" y="4955150"/>
            <a:ext cx="11049000" cy="13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[SUMMARY_TEXT]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TEMPLATE_ID:comparison_neutral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21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21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[TABLE_TITLE]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21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21"/>
          <p:cNvGraphicFramePr/>
          <p:nvPr/>
        </p:nvGraphicFramePr>
        <p:xfrm>
          <a:off x="571500" y="15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{1E28F073-FBF7-4A07-8987-1C9DE108B109}</a:tableStyleId>
              </a:tblPr>
              <a:tblGrid>
                <a:gridCol w="2700000"/>
                <a:gridCol w="2200000"/>
                <a:gridCol w="2200000"/>
                <a:gridCol w="1700000"/>
                <a:gridCol w="2249000"/>
              </a:tblGrid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Metric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Deliveroo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Glovo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p-value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Significance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Success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0.042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on Task (s)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 Score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0.125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0.033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21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[TABLE_FOOTNOTE]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TEMPLATE_ID:table_large_neutral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22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2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[TABLE_TITLE]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9" name="Google Shape;179;p22"/>
          <p:cNvGraphicFramePr/>
          <p:nvPr/>
        </p:nvGraphicFramePr>
        <p:xfrm>
          <a:off x="571500" y="15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{1E28F073-FBF7-4A07-8987-1C9DE108B109}</a:tableStyleId>
              </a:tblPr>
              <a:tblGrid>
                <a:gridCol w="2700000"/>
                <a:gridCol w="2200000"/>
                <a:gridCol w="2200000"/>
                <a:gridCol w="1700000"/>
                <a:gridCol w="2249000"/>
              </a:tblGrid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Metric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Deliveroo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Glovo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p-value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Significance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Success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0.042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on Task (s)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 Score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0.125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0.033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80" name="Google Shape;180;p22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[TABLE_FOOTNOTE]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TEMPLATE_ID:table_large_deliveroo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3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3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[TABLE_TITLE]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3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9" name="Google Shape;189;p23"/>
          <p:cNvGraphicFramePr/>
          <p:nvPr/>
        </p:nvGraphicFramePr>
        <p:xfrm>
          <a:off x="571500" y="15335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{1E28F073-FBF7-4A07-8987-1C9DE108B109}</a:tableStyleId>
              </a:tblPr>
              <a:tblGrid>
                <a:gridCol w="2700000"/>
                <a:gridCol w="2200000"/>
                <a:gridCol w="2200000"/>
                <a:gridCol w="1700000"/>
                <a:gridCol w="2249000"/>
              </a:tblGrid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Metric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Deliveroo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Glovo (Avg)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p-value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F8FAFC"/>
                          </a:solidFill>
                          <a:latin typeface="Sora"/>
                          <a:ea typeface="Sora"/>
                          <a:cs typeface="Sora"/>
                          <a:sym typeface="Sora"/>
                        </a:rPr>
                        <a:t>Significance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B1220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Task Success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92%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85%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0.042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Time on Task (s)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45.2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58.1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0.001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High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SUS Score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78.5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72.1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0.125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Not 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1827"/>
                    </a:solidFill>
                  </a:tcPr>
                </a:tc>
              </a:tr>
              <a:tr h="9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Error Rate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0.5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1.2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0.033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E5E7EB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Significant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2937"/>
                    </a:solidFill>
                  </a:tcPr>
                </a:tc>
              </a:tr>
            </a:tbl>
          </a:graphicData>
        </a:graphic>
      </p:graphicFrame>
      <p:sp>
        <p:nvSpPr>
          <p:cNvPr id="190" name="Google Shape;190;p23"/>
          <p:cNvSpPr txBox="1"/>
          <p:nvPr/>
        </p:nvSpPr>
        <p:spPr>
          <a:xfrm>
            <a:off x="647700" y="6376675"/>
            <a:ext cx="11049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[TABLE_FOOTNOTE]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3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TEMPLATE_ID:table_large_glovo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24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7813" y="1916400"/>
            <a:ext cx="4517632" cy="30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4"/>
          <p:cNvSpPr txBox="1"/>
          <p:nvPr/>
        </p:nvSpPr>
        <p:spPr>
          <a:xfrm>
            <a:off x="759450" y="1049025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KEY FINDINGS &amp;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4"/>
          <p:cNvSpPr/>
          <p:nvPr/>
        </p:nvSpPr>
        <p:spPr>
          <a:xfrm>
            <a:off x="530850" y="1049025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968113" y="250927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968113" y="320460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968113" y="389992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4"/>
          <p:cNvSpPr txBox="1"/>
          <p:nvPr/>
        </p:nvSpPr>
        <p:spPr>
          <a:xfrm>
            <a:off x="968113" y="459525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04" name="Google Shape;204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70" y="2393925"/>
            <a:ext cx="426185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089242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784567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4479892"/>
            <a:ext cx="426200" cy="461717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4"/>
          <p:cNvSpPr txBox="1"/>
          <p:nvPr/>
        </p:nvSpPr>
        <p:spPr>
          <a:xfrm>
            <a:off x="7426950" y="944875"/>
            <a:ext cx="438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[SUMMARY_TEXT]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4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TEMPLATE_ID:findings_neutral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5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5" name="Google Shape;215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7813" y="1916400"/>
            <a:ext cx="4517632" cy="30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5"/>
          <p:cNvSpPr txBox="1"/>
          <p:nvPr/>
        </p:nvSpPr>
        <p:spPr>
          <a:xfrm>
            <a:off x="759450" y="1049025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KEY FINDINGS &amp;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/>
          <p:nvPr/>
        </p:nvSpPr>
        <p:spPr>
          <a:xfrm>
            <a:off x="530850" y="1049025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5"/>
          <p:cNvSpPr txBox="1"/>
          <p:nvPr/>
        </p:nvSpPr>
        <p:spPr>
          <a:xfrm>
            <a:off x="968125" y="250927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5"/>
          <p:cNvSpPr txBox="1"/>
          <p:nvPr/>
        </p:nvSpPr>
        <p:spPr>
          <a:xfrm>
            <a:off x="968125" y="320460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968125" y="389992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968125" y="459525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22" name="Google Shape;22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70" y="2393925"/>
            <a:ext cx="426185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089242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784567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4479892"/>
            <a:ext cx="426200" cy="461717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5"/>
          <p:cNvSpPr txBox="1"/>
          <p:nvPr/>
        </p:nvSpPr>
        <p:spPr>
          <a:xfrm>
            <a:off x="7426950" y="944875"/>
            <a:ext cx="438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[SUMMARY_TEXT]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TEMPLATE_ID:findings_deliveroo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6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97813" y="1916400"/>
            <a:ext cx="4517632" cy="3025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6"/>
          <p:cNvSpPr txBox="1"/>
          <p:nvPr/>
        </p:nvSpPr>
        <p:spPr>
          <a:xfrm>
            <a:off x="759450" y="1049025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KEY FINDINGS &amp; INSIGHTS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6"/>
          <p:cNvSpPr/>
          <p:nvPr/>
        </p:nvSpPr>
        <p:spPr>
          <a:xfrm>
            <a:off x="530850" y="1049025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6"/>
          <p:cNvSpPr txBox="1"/>
          <p:nvPr/>
        </p:nvSpPr>
        <p:spPr>
          <a:xfrm>
            <a:off x="968113" y="250927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968113" y="320460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6"/>
          <p:cNvSpPr txBox="1"/>
          <p:nvPr/>
        </p:nvSpPr>
        <p:spPr>
          <a:xfrm>
            <a:off x="968113" y="3899925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[FINDING_3]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6"/>
          <p:cNvSpPr txBox="1"/>
          <p:nvPr/>
        </p:nvSpPr>
        <p:spPr>
          <a:xfrm>
            <a:off x="968113" y="4595250"/>
            <a:ext cx="60198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[FINDING_4]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40" name="Google Shape;240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70" y="2393925"/>
            <a:ext cx="426185" cy="461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089242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3784567"/>
            <a:ext cx="426200" cy="46171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6563" y="4479892"/>
            <a:ext cx="426200" cy="461717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6"/>
          <p:cNvSpPr txBox="1"/>
          <p:nvPr/>
        </p:nvSpPr>
        <p:spPr>
          <a:xfrm>
            <a:off x="7426950" y="944875"/>
            <a:ext cx="438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Arial"/>
                <a:ea typeface="Arial"/>
                <a:cs typeface="Arial"/>
                <a:sym typeface="Arial"/>
              </a:rPr>
              <a:t>[SUMMARY_TEXT]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TEMPLATE_ID:findings_glovo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27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50" y="4127198"/>
            <a:ext cx="5334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[TASK_TITLE]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7"/>
          <p:cNvSpPr txBox="1"/>
          <p:nvPr/>
        </p:nvSpPr>
        <p:spPr>
          <a:xfrm>
            <a:off x="571500" y="1533525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7"/>
          <p:cNvSpPr txBox="1"/>
          <p:nvPr/>
        </p:nvSpPr>
        <p:spPr>
          <a:xfrm>
            <a:off x="571500" y="1895475"/>
            <a:ext cx="53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[TASK_DESCRIPTION]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56" name="Google Shape;256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334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7"/>
          <p:cNvSpPr txBox="1"/>
          <p:nvPr/>
        </p:nvSpPr>
        <p:spPr>
          <a:xfrm>
            <a:off x="733350" y="4317698"/>
            <a:ext cx="52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7"/>
          <p:cNvSpPr/>
          <p:nvPr/>
        </p:nvSpPr>
        <p:spPr>
          <a:xfrm>
            <a:off x="733350" y="4603635"/>
            <a:ext cx="49530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7"/>
          <p:cNvSpPr txBox="1"/>
          <p:nvPr/>
        </p:nvSpPr>
        <p:spPr>
          <a:xfrm>
            <a:off x="733350" y="4803473"/>
            <a:ext cx="8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733350" y="4955873"/>
            <a:ext cx="185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[SUCCESS_RATE]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5038650" y="4803473"/>
            <a:ext cx="5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AVG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4670000" y="5079723"/>
            <a:ext cx="159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[AVG_TIME]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7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TEMPLATE_ID:task_results_neutral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8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50" y="4127198"/>
            <a:ext cx="5334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28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[TASK_TITLE]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8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8"/>
          <p:cNvSpPr txBox="1"/>
          <p:nvPr/>
        </p:nvSpPr>
        <p:spPr>
          <a:xfrm>
            <a:off x="571500" y="1533525"/>
            <a:ext cx="56007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8"/>
          <p:cNvSpPr txBox="1"/>
          <p:nvPr/>
        </p:nvSpPr>
        <p:spPr>
          <a:xfrm>
            <a:off x="571500" y="1895475"/>
            <a:ext cx="53340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[TASK_DESCRIPTION]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74" name="Google Shape;27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334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8"/>
          <p:cNvSpPr txBox="1"/>
          <p:nvPr/>
        </p:nvSpPr>
        <p:spPr>
          <a:xfrm>
            <a:off x="733350" y="4317698"/>
            <a:ext cx="52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8"/>
          <p:cNvSpPr/>
          <p:nvPr/>
        </p:nvSpPr>
        <p:spPr>
          <a:xfrm>
            <a:off x="733350" y="4603635"/>
            <a:ext cx="49530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8"/>
          <p:cNvSpPr txBox="1"/>
          <p:nvPr/>
        </p:nvSpPr>
        <p:spPr>
          <a:xfrm>
            <a:off x="733350" y="4803473"/>
            <a:ext cx="8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8"/>
          <p:cNvSpPr txBox="1"/>
          <p:nvPr/>
        </p:nvSpPr>
        <p:spPr>
          <a:xfrm>
            <a:off x="733350" y="4955873"/>
            <a:ext cx="185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[SUCCESS_RATE]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8"/>
          <p:cNvSpPr txBox="1"/>
          <p:nvPr/>
        </p:nvSpPr>
        <p:spPr>
          <a:xfrm>
            <a:off x="5038650" y="4803473"/>
            <a:ext cx="5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AVG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8"/>
          <p:cNvSpPr txBox="1"/>
          <p:nvPr/>
        </p:nvSpPr>
        <p:spPr>
          <a:xfrm>
            <a:off x="4670000" y="5079723"/>
            <a:ext cx="16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[AVG_TIME]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8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TEMPLATE_ID:task_results_deliveroo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2850" y="4127198"/>
            <a:ext cx="53340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9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[TASK_TITLE]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9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9"/>
          <p:cNvSpPr txBox="1"/>
          <p:nvPr/>
        </p:nvSpPr>
        <p:spPr>
          <a:xfrm>
            <a:off x="571500" y="1533525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DESCRIPTION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9"/>
          <p:cNvSpPr txBox="1"/>
          <p:nvPr/>
        </p:nvSpPr>
        <p:spPr>
          <a:xfrm>
            <a:off x="571500" y="1895475"/>
            <a:ext cx="5334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[TASK_DESCRIPTION]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292" name="Google Shape;29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533525"/>
            <a:ext cx="5334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9"/>
          <p:cNvSpPr txBox="1"/>
          <p:nvPr/>
        </p:nvSpPr>
        <p:spPr>
          <a:xfrm>
            <a:off x="733350" y="4317698"/>
            <a:ext cx="52008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TASK RESULTS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9"/>
          <p:cNvSpPr/>
          <p:nvPr/>
        </p:nvSpPr>
        <p:spPr>
          <a:xfrm>
            <a:off x="733350" y="4603635"/>
            <a:ext cx="4953000" cy="960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9"/>
          <p:cNvSpPr txBox="1"/>
          <p:nvPr/>
        </p:nvSpPr>
        <p:spPr>
          <a:xfrm>
            <a:off x="733350" y="4803473"/>
            <a:ext cx="8667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SUCCESS RATE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29"/>
          <p:cNvSpPr txBox="1"/>
          <p:nvPr/>
        </p:nvSpPr>
        <p:spPr>
          <a:xfrm>
            <a:off x="733350" y="4955873"/>
            <a:ext cx="185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[SUCCESS_RATE]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29"/>
          <p:cNvSpPr txBox="1"/>
          <p:nvPr/>
        </p:nvSpPr>
        <p:spPr>
          <a:xfrm>
            <a:off x="5038650" y="4803473"/>
            <a:ext cx="5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AVG TIME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4670000" y="5079723"/>
            <a:ext cx="1599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[AVG_TIME]</a:t>
            </a:r>
            <a:endParaRPr b="0" i="0" sz="1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TEMPLATE_ID:task_results_glovo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9" name="Google Shape;309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0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[QUESTION_TITLE]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30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0"/>
          <p:cNvSpPr txBox="1"/>
          <p:nvPr/>
        </p:nvSpPr>
        <p:spPr>
          <a:xfrm>
            <a:off x="762000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[MEAN_VALUE]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30"/>
          <p:cNvSpPr txBox="1"/>
          <p:nvPr/>
        </p:nvSpPr>
        <p:spPr>
          <a:xfrm>
            <a:off x="762000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30"/>
          <p:cNvSpPr txBox="1"/>
          <p:nvPr/>
        </p:nvSpPr>
        <p:spPr>
          <a:xfrm>
            <a:off x="3571875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[STD_VALUE]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0"/>
          <p:cNvSpPr txBox="1"/>
          <p:nvPr/>
        </p:nvSpPr>
        <p:spPr>
          <a:xfrm>
            <a:off x="3571875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30"/>
          <p:cNvSpPr txBox="1"/>
          <p:nvPr/>
        </p:nvSpPr>
        <p:spPr>
          <a:xfrm>
            <a:off x="6381750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[MIN_VALUE]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30"/>
          <p:cNvSpPr txBox="1"/>
          <p:nvPr/>
        </p:nvSpPr>
        <p:spPr>
          <a:xfrm>
            <a:off x="6381750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9191625" y="5343525"/>
            <a:ext cx="2238375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[MAX_VALUE]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30"/>
          <p:cNvSpPr txBox="1"/>
          <p:nvPr/>
        </p:nvSpPr>
        <p:spPr>
          <a:xfrm>
            <a:off x="9191625" y="5848350"/>
            <a:ext cx="2238375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0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TEMPLATE_ID:ueq_question_neutral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Google Shape;325;p31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7" name="Google Shape;327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8" name="Google Shape;32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9" name="Google Shape;32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[QUESTION_TITLE]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762000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[MEAN_VALUE]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31"/>
          <p:cNvSpPr txBox="1"/>
          <p:nvPr/>
        </p:nvSpPr>
        <p:spPr>
          <a:xfrm>
            <a:off x="762000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31"/>
          <p:cNvSpPr txBox="1"/>
          <p:nvPr/>
        </p:nvSpPr>
        <p:spPr>
          <a:xfrm>
            <a:off x="3571875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[STD_VALUE]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31"/>
          <p:cNvSpPr txBox="1"/>
          <p:nvPr/>
        </p:nvSpPr>
        <p:spPr>
          <a:xfrm>
            <a:off x="3571875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1"/>
          <p:cNvSpPr txBox="1"/>
          <p:nvPr/>
        </p:nvSpPr>
        <p:spPr>
          <a:xfrm>
            <a:off x="6381750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[MIN_VALUE]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31"/>
          <p:cNvSpPr txBox="1"/>
          <p:nvPr/>
        </p:nvSpPr>
        <p:spPr>
          <a:xfrm>
            <a:off x="6381750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31"/>
          <p:cNvSpPr txBox="1"/>
          <p:nvPr/>
        </p:nvSpPr>
        <p:spPr>
          <a:xfrm>
            <a:off x="9191625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[MAX_VALUE]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1"/>
          <p:cNvSpPr txBox="1"/>
          <p:nvPr/>
        </p:nvSpPr>
        <p:spPr>
          <a:xfrm>
            <a:off x="9191625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1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TEMPLATE_ID:ueq_question_deliveroo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Google Shape;346;p32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7" name="Google Shape;34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33525"/>
            <a:ext cx="110490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8" name="Google Shape;348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8137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01125" y="5153025"/>
            <a:ext cx="2619375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[QUESTION_TITLE]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2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2"/>
          <p:cNvSpPr txBox="1"/>
          <p:nvPr/>
        </p:nvSpPr>
        <p:spPr>
          <a:xfrm>
            <a:off x="762000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[MEAN_VALUE]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32"/>
          <p:cNvSpPr txBox="1"/>
          <p:nvPr/>
        </p:nvSpPr>
        <p:spPr>
          <a:xfrm>
            <a:off x="762000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MEAN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3571875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[STD_VALUE]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2"/>
          <p:cNvSpPr txBox="1"/>
          <p:nvPr/>
        </p:nvSpPr>
        <p:spPr>
          <a:xfrm>
            <a:off x="3571875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STD DEV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32"/>
          <p:cNvSpPr txBox="1"/>
          <p:nvPr/>
        </p:nvSpPr>
        <p:spPr>
          <a:xfrm>
            <a:off x="6381750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[MIN_VALUE]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32"/>
          <p:cNvSpPr txBox="1"/>
          <p:nvPr/>
        </p:nvSpPr>
        <p:spPr>
          <a:xfrm>
            <a:off x="6381750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MIN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32"/>
          <p:cNvSpPr txBox="1"/>
          <p:nvPr/>
        </p:nvSpPr>
        <p:spPr>
          <a:xfrm>
            <a:off x="9191625" y="5343525"/>
            <a:ext cx="22383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F8FAFC"/>
                </a:solidFill>
                <a:latin typeface="Bebas Neue"/>
                <a:ea typeface="Bebas Neue"/>
                <a:cs typeface="Bebas Neue"/>
                <a:sym typeface="Bebas Neue"/>
              </a:rPr>
              <a:t>[MAX_VALUE]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2"/>
          <p:cNvSpPr txBox="1"/>
          <p:nvPr/>
        </p:nvSpPr>
        <p:spPr>
          <a:xfrm>
            <a:off x="9191625" y="5848350"/>
            <a:ext cx="2238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MAX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2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TEMPLATE_ID:ueq_question_glovo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7" name="Google Shape;367;p33" title="Background 5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8" name="Google Shape;368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90950"/>
            <a:ext cx="11049000" cy="2477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9" name="Google Shape;369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533525"/>
            <a:ext cx="538162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0" name="Google Shape;370;p3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1533525"/>
            <a:ext cx="538162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1" name="Google Shape;371;p3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12291" y="194696"/>
            <a:ext cx="2003417" cy="105308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3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FINAL VERDICT &amp; CONCLUSIONS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33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3"/>
          <p:cNvSpPr txBox="1"/>
          <p:nvPr/>
        </p:nvSpPr>
        <p:spPr>
          <a:xfrm>
            <a:off x="866775" y="1828800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DELIVEROO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33"/>
          <p:cNvSpPr txBox="1"/>
          <p:nvPr/>
        </p:nvSpPr>
        <p:spPr>
          <a:xfrm>
            <a:off x="6534150" y="1828800"/>
            <a:ext cx="5030628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4"/>
              <a:buFont typeface="Arial"/>
              <a:buNone/>
            </a:pPr>
            <a:r>
              <a:rPr b="1" i="0" lang="en-US" sz="1404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GLOVO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33"/>
          <p:cNvSpPr txBox="1"/>
          <p:nvPr/>
        </p:nvSpPr>
        <p:spPr>
          <a:xfrm>
            <a:off x="1247775" y="22383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[STRENGTH 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3"/>
          <p:cNvSpPr txBox="1"/>
          <p:nvPr/>
        </p:nvSpPr>
        <p:spPr>
          <a:xfrm>
            <a:off x="1247775" y="256222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[STRENGTH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3"/>
          <p:cNvSpPr txBox="1"/>
          <p:nvPr/>
        </p:nvSpPr>
        <p:spPr>
          <a:xfrm>
            <a:off x="1247775" y="28860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[WEAKNESS]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6915150" y="22383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[STRENGTH 1]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3"/>
          <p:cNvSpPr txBox="1"/>
          <p:nvPr/>
        </p:nvSpPr>
        <p:spPr>
          <a:xfrm>
            <a:off x="6915150" y="256222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[STRENGTH 2]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3"/>
          <p:cNvSpPr txBox="1"/>
          <p:nvPr/>
        </p:nvSpPr>
        <p:spPr>
          <a:xfrm>
            <a:off x="6915150" y="2886075"/>
            <a:ext cx="4410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[WEAKNESS]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382" name="Google Shape;382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238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2562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238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5" name="Google Shape;385;p3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562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6" name="Google Shape;386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3146" y="2876563"/>
            <a:ext cx="235857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7" name="Google Shape;387;p3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34150" y="2866085"/>
            <a:ext cx="228600" cy="240030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33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TEMPLATE_ID:final_verdict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A0A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4" title="Background 1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34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E5E7EB"/>
                </a:solidFill>
                <a:latin typeface="Sora"/>
                <a:ea typeface="Sora"/>
                <a:cs typeface="Sora"/>
                <a:sym typeface="Sora"/>
              </a:rPr>
              <a:t>IMAGE SOURCES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4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96" name="Google Shape;396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34"/>
          <p:cNvSpPr txBox="1"/>
          <p:nvPr/>
        </p:nvSpPr>
        <p:spPr>
          <a:xfrm>
            <a:off x="1666875" y="1719262"/>
            <a:ext cx="99536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75"/>
              <a:buFont typeface="Arial"/>
              <a:buNone/>
            </a:pPr>
            <a:r>
              <a:rPr b="0" i="0" lang="en-US" sz="975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https://s3.envato.com/files/390502005/01_Preview.__large_preview.png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4"/>
          <p:cNvSpPr txBox="1"/>
          <p:nvPr/>
        </p:nvSpPr>
        <p:spPr>
          <a:xfrm>
            <a:off x="1666875" y="1919287"/>
            <a:ext cx="99536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Source: themeforest.net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34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TEMPLATE_ID:sources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35" title="Background 3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5"/>
          <p:cNvSpPr txBox="1"/>
          <p:nvPr/>
        </p:nvSpPr>
        <p:spPr>
          <a:xfrm>
            <a:off x="800100" y="571500"/>
            <a:ext cx="1136142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[TEXT_TITLE]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35"/>
          <p:cNvSpPr/>
          <p:nvPr/>
        </p:nvSpPr>
        <p:spPr>
          <a:xfrm>
            <a:off x="571500" y="571500"/>
            <a:ext cx="76200" cy="581025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5"/>
          <p:cNvSpPr txBox="1"/>
          <p:nvPr/>
        </p:nvSpPr>
        <p:spPr>
          <a:xfrm>
            <a:off x="-1828800" y="0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TEMPLATE_ID:text_only_neutral</a:t>
            </a:r>
            <a:endParaRPr/>
          </a:p>
        </p:txBody>
      </p:sp>
      <p:sp>
        <p:nvSpPr>
          <p:cNvPr id="408" name="Google Shape;408;p35"/>
          <p:cNvSpPr txBox="1"/>
          <p:nvPr/>
        </p:nvSpPr>
        <p:spPr>
          <a:xfrm>
            <a:off x="1000000" y="1700000"/>
            <a:ext cx="101920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[TEXT_BODY]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36" title="Background 6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6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[TEXT_TITLE]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6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00C7C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6"/>
          <p:cNvSpPr txBox="1"/>
          <p:nvPr/>
        </p:nvSpPr>
        <p:spPr>
          <a:xfrm>
            <a:off x="-18288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TEMPLATE_ID:text_only_deliveroo</a:t>
            </a:r>
            <a:endParaRPr/>
          </a:p>
        </p:txBody>
      </p:sp>
      <p:sp>
        <p:nvSpPr>
          <p:cNvPr id="417" name="Google Shape;417;p36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[TEXT_BODY]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2" name="Google Shape;422;p37" title="Background 7.png"/>
          <p:cNvPicPr preferRelativeResize="0"/>
          <p:nvPr/>
        </p:nvPicPr>
        <p:blipFill rotWithShape="1">
          <a:blip r:embed="rId3">
            <a:alphaModFix/>
          </a:blip>
          <a:srcRect b="20" l="0" r="0" t="30"/>
          <a:stretch/>
        </p:blipFill>
        <p:spPr>
          <a:xfrm>
            <a:off x="0" y="0"/>
            <a:ext cx="12191998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7"/>
          <p:cNvSpPr txBox="1"/>
          <p:nvPr/>
        </p:nvSpPr>
        <p:spPr>
          <a:xfrm>
            <a:off x="800100" y="571500"/>
            <a:ext cx="11361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8FAFC"/>
                </a:solidFill>
                <a:latin typeface="Sora"/>
                <a:ea typeface="Sora"/>
                <a:cs typeface="Sora"/>
                <a:sym typeface="Sora"/>
              </a:rPr>
              <a:t>[TEXT_TITLE]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37"/>
          <p:cNvSpPr/>
          <p:nvPr/>
        </p:nvSpPr>
        <p:spPr>
          <a:xfrm>
            <a:off x="571500" y="571500"/>
            <a:ext cx="76200" cy="581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7"/>
          <p:cNvSpPr txBox="1"/>
          <p:nvPr/>
        </p:nvSpPr>
        <p:spPr>
          <a:xfrm>
            <a:off x="-1828800" y="0"/>
            <a:ext cx="914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TEMPLATE_ID:text_only_glovo</a:t>
            </a:r>
            <a:endParaRPr/>
          </a:p>
        </p:txBody>
      </p:sp>
      <p:sp>
        <p:nvSpPr>
          <p:cNvPr id="426" name="Google Shape;426;p37"/>
          <p:cNvSpPr txBox="1"/>
          <p:nvPr/>
        </p:nvSpPr>
        <p:spPr>
          <a:xfrm>
            <a:off x="1000000" y="1700000"/>
            <a:ext cx="10191900" cy="42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80000" lIns="80000" spcFirstLastPara="1" rIns="80000" wrap="square" tIns="800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E5E7EB"/>
                </a:solidFill>
                <a:latin typeface="Inter"/>
                <a:ea typeface="Inter"/>
                <a:cs typeface="Inter"/>
                <a:sym typeface="Inter"/>
              </a:rPr>
              <a:t>[TEXT_BODY]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