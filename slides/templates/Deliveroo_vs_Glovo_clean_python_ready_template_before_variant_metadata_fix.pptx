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embeddedFontLst>
    <p:embeddedFont>
      <p:font typeface="Inter"/>
      <p:regular r:id="rId32"/>
      <p:bold r:id="rId33"/>
      <p:italic r:id="rId34"/>
      <p:boldItalic r:id="rId35"/>
    </p:embeddedFont>
    <p:embeddedFont>
      <p:font typeface="Bebas Neue"/>
      <p:regular r:id="rId36"/>
    </p:embeddedFont>
    <p:embeddedFont>
      <p:font typeface="Sor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9B03C7-0354-4989-A580-935E6353B0BF}">
  <a:tblStyle styleId="{699B03C7-0354-4989-A580-935E6353B0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font" Target="fonts/Inter-regular.fntdata"/><Relationship Id="rId33" Type="http://schemas.openxmlformats.org/officeDocument/2006/relationships/font" Target="fonts/Inter-bold.fntdata"/><Relationship Id="rId34" Type="http://schemas.openxmlformats.org/officeDocument/2006/relationships/font" Target="fonts/Inter-italic.fntdata"/><Relationship Id="rId35" Type="http://schemas.openxmlformats.org/officeDocument/2006/relationships/font" Target="fonts/Inter-boldItalic.fntdata"/><Relationship Id="rId36" Type="http://schemas.openxmlformats.org/officeDocument/2006/relationships/font" Target="fonts/BebasNeue-regular.fntdata"/><Relationship Id="rId37" Type="http://schemas.openxmlformats.org/officeDocument/2006/relationships/font" Target="fonts/Sora-regular.fntdata"/><Relationship Id="rId38" Type="http://schemas.openxmlformats.org/officeDocument/2006/relationships/font" Target="fonts/Sora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0886062b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e0886062bc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0886062b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e0886062bc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0886062bc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e0886062bc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0886062b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e0886062bc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0886062bc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e0886062bc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0886062b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e0886062bc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0886062bc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e0886062bc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0886062b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e0886062bc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0886062bc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e0886062bc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0886062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e0886062b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0886062b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g3e0886062bc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0886062b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g3e0886062bc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0886062b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e0886062bc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0886062b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e0886062bc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Relationship Id="rId7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3.png"/><Relationship Id="rId5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33.png"/><Relationship Id="rId5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33.png"/><Relationship Id="rId5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45.png"/><Relationship Id="rId5" Type="http://schemas.openxmlformats.org/officeDocument/2006/relationships/image" Target="../media/image35.png"/><Relationship Id="rId6" Type="http://schemas.openxmlformats.org/officeDocument/2006/relationships/image" Target="../media/image38.png"/><Relationship Id="rId7" Type="http://schemas.openxmlformats.org/officeDocument/2006/relationships/image" Target="../media/image44.png"/><Relationship Id="rId8" Type="http://schemas.openxmlformats.org/officeDocument/2006/relationships/image" Target="../media/image26.png"/><Relationship Id="rId9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Background 5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324350" y="2300287"/>
            <a:ext cx="3543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UX RESEARCH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660570" y="2557462"/>
            <a:ext cx="6870858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[PROJECT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419600" y="3509962"/>
            <a:ext cx="3352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[SUBTITLE GOES HERE]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272212" y="4357687"/>
            <a:ext cx="12668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 [AUTHORS]  [YEAR/DATE]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962" y="4376737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2212" y="4376737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467350" y="2709862"/>
            <a:ext cx="125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625441" y="2967037"/>
            <a:ext cx="8941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[SECTION NAME]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4" title="Asset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1015975"/>
            <a:ext cx="10286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title="Background 1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467350" y="2709862"/>
            <a:ext cx="1257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625441" y="2967037"/>
            <a:ext cx="8941117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[SECTION NAME]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5" title="Asset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1015975"/>
            <a:ext cx="10286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467350" y="2709862"/>
            <a:ext cx="125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1625441" y="2967037"/>
            <a:ext cx="8941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[SECTION NAME]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 title="Asset 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1750" y="1046500"/>
            <a:ext cx="10286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7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6950"/>
            <a:ext cx="11049000" cy="393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[GRAPH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[INSIGHT_TEXT]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6950"/>
            <a:ext cx="11049000" cy="393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[GRAPH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[INSIGHT_TEXT]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9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6950"/>
            <a:ext cx="11049000" cy="393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[GRAPH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[INSIGHT_TEXT]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0" title="Background 5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5334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00275"/>
            <a:ext cx="5334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533525"/>
            <a:ext cx="5334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200275"/>
            <a:ext cx="53340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[COMPARISON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571500" y="5619750"/>
            <a:ext cx="110490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[SUMMARY_TEXT]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1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[TABLE_TITLE]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21"/>
          <p:cNvGraphicFramePr/>
          <p:nvPr/>
        </p:nvGraphicFramePr>
        <p:xfrm>
          <a:off x="571500" y="15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{699B03C7-0354-4989-A580-935E6353B0BF}</a:tableStyleId>
              </a:tblPr>
              <a:tblGrid>
                <a:gridCol w="2700000"/>
                <a:gridCol w="2200000"/>
                <a:gridCol w="2200000"/>
                <a:gridCol w="1700000"/>
                <a:gridCol w="2249000"/>
              </a:tblGrid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Metric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Deliveroo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Glovo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p-value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Significance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Success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0.042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on Task (s)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 Score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0.125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0.033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66" name="Google Shape;166;p21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[TABLE_FOOTNOTE]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2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[TABLE_TITLE]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22"/>
          <p:cNvGraphicFramePr/>
          <p:nvPr/>
        </p:nvGraphicFramePr>
        <p:xfrm>
          <a:off x="571500" y="15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{699B03C7-0354-4989-A580-935E6353B0BF}</a:tableStyleId>
              </a:tblPr>
              <a:tblGrid>
                <a:gridCol w="2700000"/>
                <a:gridCol w="2200000"/>
                <a:gridCol w="2200000"/>
                <a:gridCol w="1700000"/>
                <a:gridCol w="2249000"/>
              </a:tblGrid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Metric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Deliveroo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Glovo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p-value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Significance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Success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0.042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on Task (s)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 Score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0.125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0.033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22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[TABLE_FOOTNOTE]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3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[TABLE_TITLE]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23"/>
          <p:cNvGraphicFramePr/>
          <p:nvPr/>
        </p:nvGraphicFramePr>
        <p:xfrm>
          <a:off x="571500" y="15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{699B03C7-0354-4989-A580-935E6353B0BF}</a:tableStyleId>
              </a:tblPr>
              <a:tblGrid>
                <a:gridCol w="2700000"/>
                <a:gridCol w="2200000"/>
                <a:gridCol w="2200000"/>
                <a:gridCol w="1700000"/>
                <a:gridCol w="2249000"/>
              </a:tblGrid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Metric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Deliveroo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Glovo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p-value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Significance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Success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0.042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on Task (s)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 Score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0.125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0.033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23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[TABLE_FOOTNOTE]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4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7813" y="1916400"/>
            <a:ext cx="4517632" cy="30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 txBox="1"/>
          <p:nvPr/>
        </p:nvSpPr>
        <p:spPr>
          <a:xfrm>
            <a:off x="759450" y="1049025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KEY FINDINGS &amp;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530850" y="1049025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968113" y="239392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968113" y="308925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968113" y="378457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4"/>
          <p:cNvSpPr txBox="1"/>
          <p:nvPr/>
        </p:nvSpPr>
        <p:spPr>
          <a:xfrm>
            <a:off x="968113" y="447990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7" name="Google Shape;19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70" y="2393925"/>
            <a:ext cx="426185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089242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784567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4479892"/>
            <a:ext cx="426200" cy="46171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4"/>
          <p:cNvSpPr txBox="1"/>
          <p:nvPr/>
        </p:nvSpPr>
        <p:spPr>
          <a:xfrm>
            <a:off x="7426950" y="944875"/>
            <a:ext cx="438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[SUMMARY_TEXT]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5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7813" y="1916400"/>
            <a:ext cx="4517632" cy="30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 txBox="1"/>
          <p:nvPr/>
        </p:nvSpPr>
        <p:spPr>
          <a:xfrm>
            <a:off x="759450" y="1049025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KEY FINDINGS &amp;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530850" y="1049025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968113" y="2393925"/>
            <a:ext cx="60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968113" y="3089250"/>
            <a:ext cx="60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968113" y="3784575"/>
            <a:ext cx="60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5"/>
          <p:cNvSpPr txBox="1"/>
          <p:nvPr/>
        </p:nvSpPr>
        <p:spPr>
          <a:xfrm>
            <a:off x="968113" y="4479900"/>
            <a:ext cx="60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4" name="Google Shape;21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70" y="2393925"/>
            <a:ext cx="426185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089242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784567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4479892"/>
            <a:ext cx="426200" cy="46171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 txBox="1"/>
          <p:nvPr/>
        </p:nvSpPr>
        <p:spPr>
          <a:xfrm>
            <a:off x="7426950" y="944875"/>
            <a:ext cx="438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[SUMMARY_TEXT]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6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7813" y="1916400"/>
            <a:ext cx="4517632" cy="30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6"/>
          <p:cNvSpPr txBox="1"/>
          <p:nvPr/>
        </p:nvSpPr>
        <p:spPr>
          <a:xfrm>
            <a:off x="759450" y="1049025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KEY FINDINGS &amp;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530850" y="1049025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968113" y="250927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968113" y="320460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968113" y="389992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968113" y="459525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1" name="Google Shape;23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70" y="2393925"/>
            <a:ext cx="426185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089242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784567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4479892"/>
            <a:ext cx="426200" cy="46171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 txBox="1"/>
          <p:nvPr/>
        </p:nvSpPr>
        <p:spPr>
          <a:xfrm>
            <a:off x="7426950" y="944875"/>
            <a:ext cx="438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[SUMMARY_TEXT]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7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50" y="4127198"/>
            <a:ext cx="5334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[TASK_TITLE]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571500" y="1533525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571500" y="1895475"/>
            <a:ext cx="53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[TASK_DESCRIPTION]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6" name="Google Shape;24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334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 txBox="1"/>
          <p:nvPr/>
        </p:nvSpPr>
        <p:spPr>
          <a:xfrm>
            <a:off x="733350" y="4317698"/>
            <a:ext cx="52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733350" y="4603635"/>
            <a:ext cx="49530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733350" y="4803473"/>
            <a:ext cx="8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7"/>
          <p:cNvSpPr txBox="1"/>
          <p:nvPr/>
        </p:nvSpPr>
        <p:spPr>
          <a:xfrm>
            <a:off x="733350" y="4955873"/>
            <a:ext cx="185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[SUCCESS_RATE]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5038650" y="4803473"/>
            <a:ext cx="5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AVG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4670000" y="5079723"/>
            <a:ext cx="159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[AVG_TIME]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8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50" y="4127198"/>
            <a:ext cx="5334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[TASK_TITLE]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571500" y="15335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8"/>
          <p:cNvSpPr txBox="1"/>
          <p:nvPr/>
        </p:nvSpPr>
        <p:spPr>
          <a:xfrm>
            <a:off x="571500" y="1895475"/>
            <a:ext cx="5334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[TASK_DESCRIPTION]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3" name="Google Shape;26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334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8"/>
          <p:cNvSpPr txBox="1"/>
          <p:nvPr/>
        </p:nvSpPr>
        <p:spPr>
          <a:xfrm>
            <a:off x="733350" y="4317698"/>
            <a:ext cx="52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733350" y="4603635"/>
            <a:ext cx="49530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733350" y="4803473"/>
            <a:ext cx="8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8"/>
          <p:cNvSpPr txBox="1"/>
          <p:nvPr/>
        </p:nvSpPr>
        <p:spPr>
          <a:xfrm>
            <a:off x="733350" y="4955873"/>
            <a:ext cx="185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[SUCCESS_RATE]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5038650" y="4803473"/>
            <a:ext cx="5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AVG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4670000" y="5079723"/>
            <a:ext cx="16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[AVG_TIME]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9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50" y="4127198"/>
            <a:ext cx="5334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9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[TASK_TITLE]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9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9"/>
          <p:cNvSpPr txBox="1"/>
          <p:nvPr/>
        </p:nvSpPr>
        <p:spPr>
          <a:xfrm>
            <a:off x="571500" y="1533525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9"/>
          <p:cNvSpPr txBox="1"/>
          <p:nvPr/>
        </p:nvSpPr>
        <p:spPr>
          <a:xfrm>
            <a:off x="571500" y="1895475"/>
            <a:ext cx="53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[TASK_DESCRIPTION]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0" name="Google Shape;28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334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9"/>
          <p:cNvSpPr txBox="1"/>
          <p:nvPr/>
        </p:nvSpPr>
        <p:spPr>
          <a:xfrm>
            <a:off x="733350" y="4317698"/>
            <a:ext cx="52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9"/>
          <p:cNvSpPr/>
          <p:nvPr/>
        </p:nvSpPr>
        <p:spPr>
          <a:xfrm>
            <a:off x="733350" y="4603635"/>
            <a:ext cx="49530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733350" y="4803473"/>
            <a:ext cx="8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733350" y="4955873"/>
            <a:ext cx="185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[SUCCESS_RATE]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5038650" y="4803473"/>
            <a:ext cx="5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AVG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4670000" y="5079723"/>
            <a:ext cx="159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[AVG_TIME]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0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[QUESTION_TITLE]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762000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[MEAN_VALUE]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0"/>
          <p:cNvSpPr txBox="1"/>
          <p:nvPr/>
        </p:nvSpPr>
        <p:spPr>
          <a:xfrm>
            <a:off x="762000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3571875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[STD_VALUE]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0"/>
          <p:cNvSpPr txBox="1"/>
          <p:nvPr/>
        </p:nvSpPr>
        <p:spPr>
          <a:xfrm>
            <a:off x="3571875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0"/>
          <p:cNvSpPr txBox="1"/>
          <p:nvPr/>
        </p:nvSpPr>
        <p:spPr>
          <a:xfrm>
            <a:off x="6381750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[MIN_VALUE]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0"/>
          <p:cNvSpPr txBox="1"/>
          <p:nvPr/>
        </p:nvSpPr>
        <p:spPr>
          <a:xfrm>
            <a:off x="6381750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0"/>
          <p:cNvSpPr txBox="1"/>
          <p:nvPr/>
        </p:nvSpPr>
        <p:spPr>
          <a:xfrm>
            <a:off x="9191625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[MAX_VALUE]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0"/>
          <p:cNvSpPr txBox="1"/>
          <p:nvPr/>
        </p:nvSpPr>
        <p:spPr>
          <a:xfrm>
            <a:off x="9191625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[QUESTION_TITLE]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762000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[MEAN_VALUE]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1"/>
          <p:cNvSpPr txBox="1"/>
          <p:nvPr/>
        </p:nvSpPr>
        <p:spPr>
          <a:xfrm>
            <a:off x="762000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"/>
          <p:cNvSpPr txBox="1"/>
          <p:nvPr/>
        </p:nvSpPr>
        <p:spPr>
          <a:xfrm>
            <a:off x="3571875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[STD_VALUE]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1"/>
          <p:cNvSpPr txBox="1"/>
          <p:nvPr/>
        </p:nvSpPr>
        <p:spPr>
          <a:xfrm>
            <a:off x="3571875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1"/>
          <p:cNvSpPr txBox="1"/>
          <p:nvPr/>
        </p:nvSpPr>
        <p:spPr>
          <a:xfrm>
            <a:off x="6381750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[MIN_VALUE]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6381750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9191625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[MAX_VALUE]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9191625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2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2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[QUESTION_TITLE]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2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762000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[MEAN_VALUE]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2"/>
          <p:cNvSpPr txBox="1"/>
          <p:nvPr/>
        </p:nvSpPr>
        <p:spPr>
          <a:xfrm>
            <a:off x="762000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2"/>
          <p:cNvSpPr txBox="1"/>
          <p:nvPr/>
        </p:nvSpPr>
        <p:spPr>
          <a:xfrm>
            <a:off x="3571875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[STD_VALUE]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2"/>
          <p:cNvSpPr txBox="1"/>
          <p:nvPr/>
        </p:nvSpPr>
        <p:spPr>
          <a:xfrm>
            <a:off x="3571875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2"/>
          <p:cNvSpPr txBox="1"/>
          <p:nvPr/>
        </p:nvSpPr>
        <p:spPr>
          <a:xfrm>
            <a:off x="6381750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[MIN_VALUE]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6381750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2"/>
          <p:cNvSpPr txBox="1"/>
          <p:nvPr/>
        </p:nvSpPr>
        <p:spPr>
          <a:xfrm>
            <a:off x="9191625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[MAX_VALUE]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2"/>
          <p:cNvSpPr txBox="1"/>
          <p:nvPr/>
        </p:nvSpPr>
        <p:spPr>
          <a:xfrm>
            <a:off x="9191625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3" title="Background 5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90950"/>
            <a:ext cx="11049000" cy="247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33525"/>
            <a:ext cx="538162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533525"/>
            <a:ext cx="538162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12291" y="194696"/>
            <a:ext cx="2003417" cy="105308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FINAL VERDICT &amp; CONCLUSIONS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3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3"/>
          <p:cNvSpPr txBox="1"/>
          <p:nvPr/>
        </p:nvSpPr>
        <p:spPr>
          <a:xfrm>
            <a:off x="866775" y="1828800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3"/>
          <p:cNvSpPr txBox="1"/>
          <p:nvPr/>
        </p:nvSpPr>
        <p:spPr>
          <a:xfrm>
            <a:off x="6534150" y="1828800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3"/>
          <p:cNvSpPr txBox="1"/>
          <p:nvPr/>
        </p:nvSpPr>
        <p:spPr>
          <a:xfrm>
            <a:off x="1247775" y="22383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[STRENGTH 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1247775" y="256222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[STRENGTH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1247775" y="28860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[WEAKNESS]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3"/>
          <p:cNvSpPr txBox="1"/>
          <p:nvPr/>
        </p:nvSpPr>
        <p:spPr>
          <a:xfrm>
            <a:off x="6915150" y="22383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[STRENGTH 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3"/>
          <p:cNvSpPr txBox="1"/>
          <p:nvPr/>
        </p:nvSpPr>
        <p:spPr>
          <a:xfrm>
            <a:off x="6915150" y="256222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[STRENGTH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3"/>
          <p:cNvSpPr txBox="1"/>
          <p:nvPr/>
        </p:nvSpPr>
        <p:spPr>
          <a:xfrm>
            <a:off x="6915150" y="28860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[WEAKNESS]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6" name="Google Shape;366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238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562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238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562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3146" y="2876563"/>
            <a:ext cx="235857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2866085"/>
            <a:ext cx="228600" cy="240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4" title="Background 1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4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9" name="Google Shape;37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4"/>
          <p:cNvSpPr txBox="1"/>
          <p:nvPr/>
        </p:nvSpPr>
        <p:spPr>
          <a:xfrm>
            <a:off x="1666875" y="1719262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https://s3.envato.com/files/390502005/01_Preview.__large_preview.png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4"/>
          <p:cNvSpPr txBox="1"/>
          <p:nvPr/>
        </p:nvSpPr>
        <p:spPr>
          <a:xfrm>
            <a:off x="1666875" y="1919287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Source: themeforest.net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35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[TEXT_TITLE]</a:t>
            </a:r>
            <a:endParaRPr/>
          </a:p>
        </p:txBody>
      </p:sp>
      <p:sp>
        <p:nvSpPr>
          <p:cNvPr id="388" name="Google Shape;388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5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TEMPLATE_ID:text_only_neutral</a:t>
            </a:r>
          </a:p>
        </p:txBody>
      </p:sp>
      <p:sp>
        <p:nvSpPr>
          <p:cNvPr id="390" name="Google Shape;390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[TEXT_BODY]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6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6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[TEXT_TITLE]</a:t>
            </a:r>
            <a:endParaRPr/>
          </a:p>
        </p:txBody>
      </p:sp>
      <p:sp>
        <p:nvSpPr>
          <p:cNvPr id="397" name="Google Shape;397;p36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6"/>
          <p:cNvSpPr txBox="1"/>
          <p:nvPr/>
        </p:nvSpPr>
        <p:spPr>
          <a:xfrm>
            <a:off x="-18288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TEMPLATE_ID:text_only_deliveroo</a:t>
            </a:r>
          </a:p>
        </p:txBody>
      </p:sp>
      <p:sp>
        <p:nvSpPr>
          <p:cNvPr id="399" name="Google Shape;399;p36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[TEXT_BODY]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37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[TEXT_TITLE]</a:t>
            </a:r>
            <a:endParaRPr/>
          </a:p>
        </p:txBody>
      </p:sp>
      <p:sp>
        <p:nvSpPr>
          <p:cNvPr id="406" name="Google Shape;406;p3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7"/>
          <p:cNvSpPr txBox="1"/>
          <p:nvPr/>
        </p:nvSpPr>
        <p:spPr>
          <a:xfrm>
            <a:off x="-18288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TEMPLATE_ID:text_only_glovo</a:t>
            </a:r>
          </a:p>
        </p:txBody>
      </p:sp>
      <p:sp>
        <p:nvSpPr>
          <p:cNvPr id="408" name="Google Shape;408;p37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[TEXT_BODY]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