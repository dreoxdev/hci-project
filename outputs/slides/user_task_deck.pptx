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</p:sldIdLst>
  <p:sldSz cy="6858000" cx="12192000"/>
  <p:notesSz cx="6858000" cy="9144000"/>
  <p:embeddedFontLst>
    <p:embeddedFont>
      <p:font typeface="Inter"/>
      <p:regular r:id="rId32"/>
      <p:bold r:id="rId33"/>
      <p:italic r:id="rId34"/>
      <p:boldItalic r:id="rId35"/>
    </p:embeddedFont>
    <p:embeddedFont>
      <p:font typeface="Bebas Neue"/>
      <p:regular r:id="rId36"/>
    </p:embeddedFont>
    <p:embeddedFont>
      <p:font typeface="Sora"/>
      <p:regular r:id="rId37"/>
      <p:bold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3249C1-7C9A-47CD-8B0D-511CF3B69D63}">
  <a:tblStyle styleId="{433249C1-7C9A-47CD-8B0D-511CF3B69D6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2" Type="http://schemas.openxmlformats.org/officeDocument/2006/relationships/font" Target="fonts/Inter-regular.fntdata"/><Relationship Id="rId33" Type="http://schemas.openxmlformats.org/officeDocument/2006/relationships/font" Target="fonts/Inter-bold.fntdata"/><Relationship Id="rId34" Type="http://schemas.openxmlformats.org/officeDocument/2006/relationships/font" Target="fonts/Inter-italic.fntdata"/><Relationship Id="rId35" Type="http://schemas.openxmlformats.org/officeDocument/2006/relationships/font" Target="fonts/Inter-boldItalic.fntdata"/><Relationship Id="rId36" Type="http://schemas.openxmlformats.org/officeDocument/2006/relationships/font" Target="fonts/BebasNeue-regular.fntdata"/><Relationship Id="rId37" Type="http://schemas.openxmlformats.org/officeDocument/2006/relationships/font" Target="fonts/Sora-regular.fntdata"/><Relationship Id="rId38" Type="http://schemas.openxmlformats.org/officeDocument/2006/relationships/font" Target="fonts/Sora-bold.fntdata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9" name="Google Shape;49;p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2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17.png"/><Relationship Id="rId5" Type="http://schemas.openxmlformats.org/officeDocument/2006/relationships/image" Target="../media/image27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7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4" name="Google Shape;84;p13" title="Background 5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324350" y="2300287"/>
            <a:ext cx="3543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Progetto HCI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2660570" y="2557462"/>
            <a:ext cx="6870858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sz="5000" b="1">
                <a:solidFill>
                  <a:srgbClr val="F8FAFC"/>
                </a:solidFill>
                <a:latin typeface="Sora"/>
              </a:rPr>
              <a:t>User test </a:t>
            </a:r>
            <a:r>
              <a:rPr sz="5000" b="1">
                <a:solidFill>
                  <a:srgbClr val="00CCBC"/>
                </a:solidFill>
                <a:latin typeface="Sora"/>
              </a:rPr>
              <a:t>Deliveroo</a:t>
            </a:r>
            <a:r>
              <a:rPr sz="5000" b="1">
                <a:solidFill>
                  <a:srgbClr val="F8FAFC"/>
                </a:solidFill>
                <a:latin typeface="Sora"/>
              </a:rPr>
              <a:t> vs </a:t>
            </a:r>
            <a:r>
              <a:rPr sz="5000" b="1">
                <a:solidFill>
                  <a:srgbClr val="FFC244"/>
                </a:solidFill>
                <a:latin typeface="Sora"/>
              </a:rPr>
              <a:t>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4419600" y="3509962"/>
            <a:ext cx="33528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5133900" y="4132574"/>
            <a:ext cx="192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  Anno accademico 2025/2026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0" name="Google Shape;9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01813" y="4525721"/>
            <a:ext cx="245525" cy="19215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801824" y="4098413"/>
            <a:ext cx="245528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title="logo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0" y="1302350"/>
            <a:ext cx="762000" cy="762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94" name="Google Shape;94;p13"/>
          <p:cNvSpPr txBox="1"/>
          <p:nvPr/>
        </p:nvSpPr>
        <p:spPr>
          <a:xfrm>
            <a:off x="5133900" y="4517849"/>
            <a:ext cx="192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  </a:t>
            </a:r>
            <a:r>
              <a:rPr lang="en-US" sz="1100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Gruppo HCI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A cosa serve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Questa presentazione serve a guidarti durante il test utente su Deliveroo e Glovo.
Dovrai svolgere 3 task in entrambe le applicazioni. Lo scopo delle task e' di analizzare la app: Non sei sotto esaminazione, la app lo e'!
Durante l'attività' puoi pensare ad alta voce, segnalare dubbi, difficolta' o passaggi poco chiari.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Prima di iniziare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Prima di iniziare: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svolgi un task alla volta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avvisa quando inizi e quando pensi di aver completato il task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se qualcosa non e' chiaro, dillo ad alta voce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2200">
                <a:solidFill>
                  <a:srgbClr val="F8FAFC"/>
                </a:solidFill>
                <a:latin typeface="Sora"/>
              </a:rPr>
              <a:t>- </a:t>
            </a:r>
            <a:r>
              <a:rPr sz="2200" b="0" i="0">
                <a:solidFill>
                  <a:srgbClr val="F8FAFC"/>
                </a:solidFill>
                <a:latin typeface="Sora"/>
              </a:rPr>
              <a:t>non inserire dati personali o completare acquisti reali.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Se un task non può' essere completato per motivi tecnici, fermati e descrivi cosa ti ha bloccato.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8" name="Google Shape;108;p15" title="Background 1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title="Asset 1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00" y="1015975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1625441" y="2967037"/>
            <a:ext cx="8941117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5200" u="none" cap="none" strike="noStrike">
                <a:solidFill>
                  <a:srgbClr val="00CCBC"/>
                </a:solidFill>
                <a:latin typeface="Sora"/>
                <a:ea typeface="Sora"/>
                <a:cs typeface="Sora"/>
                <a:sym typeface="Sora"/>
              </a:rPr>
              <a:t>Deliveroo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15" title="logo_deliveroo.jpe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5938" y="1463025"/>
            <a:ext cx="1220100" cy="12201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Apri Deliveroo, e inserisci come indirizzo di consegna:
Piazza dell'Ateneo Nuovo, 1, 20126 Milano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Partendo dalla schermata Home:
Trova la lista di ristoranti di Hamburger. In questa lista trova il ristorante Bun Burgers.
Aggiungi un Menù Cheeseburger Singolo, con Patatine Normali e una bibita a piacere.
Procedi fino al Checkout (NON confermare l'ordine)
Ora torna alla Home.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13" name="Google Shape;413;p36" title="Background 6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36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Deliveroo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36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6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Partendo dalla schermata Home: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Apri il carrello con i prodotti che hai aggiunto nel Task Precedente, e modifica l'ordine nei seguenti modi: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1. Anziche' un Cheeseburger Singolo, scegli il Cheeseburger Doppio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2. Adesso, anziche' 1 Menu Cheeseburger Doppio, aumenta a 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Raggiungi il Checkout e assicurati che l'ordine modificato sia corretto.</a:t>
            </a:r>
          </a:p>
        </p:txBody>
      </p:sp>
      <p:pic>
        <p:nvPicPr>
          <p:cNvPr id="418" name="Google Shape;418;p36" title="logo_delivero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77500" y="391352"/>
            <a:ext cx="914400" cy="9144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8" name="Google Shape;118;p16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title="Asset 0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21750" y="1046500"/>
            <a:ext cx="10286999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6"/>
          <p:cNvSpPr txBox="1"/>
          <p:nvPr/>
        </p:nvSpPr>
        <p:spPr>
          <a:xfrm>
            <a:off x="1625441" y="2967037"/>
            <a:ext cx="89412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b="1" i="0" lang="en-US" sz="5200" u="none" cap="none" strike="noStrike">
                <a:solidFill>
                  <a:srgbClr val="FFC244"/>
                </a:solidFill>
                <a:latin typeface="Sora"/>
                <a:ea typeface="Sora"/>
                <a:cs typeface="Sora"/>
                <a:sym typeface="Sora"/>
              </a:rPr>
              <a:t>Glovo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 title="logo_glovo.jpe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95898" y="1454775"/>
            <a:ext cx="1200300" cy="12003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 - Task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Apri Glovo, e inserisci come indirizzo di consegna:
Piazza dell'Ateneo Nuovo, 1, 20126 Milano MI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 - Task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Partendo dalla schermata Home:
Trova la lista di ristoranti di Hamburger. In questa lista trova il ristorante Bun Burgers.
Aggiungi un Menù Cheeseburger Singolo, con Patatine Normali e una bibita a piacere.
Procedi fino al Checkout (NON confermare l'ordine)
Ora torna alla Home.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23" name="Google Shape;423;p37" title="Background 7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7"/>
          <p:cNvSpPr txBox="1"/>
          <p:nvPr/>
        </p:nvSpPr>
        <p:spPr>
          <a:xfrm>
            <a:off x="800100" y="571500"/>
            <a:ext cx="1136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Glovo - Task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37"/>
          <p:cNvSpPr/>
          <p:nvPr/>
        </p:nvSpPr>
        <p:spPr>
          <a:xfrm>
            <a:off x="571500" y="571500"/>
            <a:ext cx="76200" cy="5811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7"/>
          <p:cNvSpPr txBox="1"/>
          <p:nvPr/>
        </p:nvSpPr>
        <p:spPr>
          <a:xfrm>
            <a:off x="1000000" y="1700000"/>
            <a:ext cx="101919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0000" lIns="130000" spcFirstLastPara="1" rIns="130000" wrap="square" tIns="90000">
            <a:normAutofit/>
          </a:bodyPr>
          <a:lstStyle/>
          <a:p>
            <a:pPr indent="0" marL="0" marR="0" rtl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200" b="0" i="0">
                <a:solidFill>
                  <a:srgbClr val="F8FAFC"/>
                </a:solidFill>
                <a:latin typeface="Sora"/>
              </a:rPr>
              <a:t>Partendo dalla schermata Home: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Apri il carrello con i prodotti che hai aggiunto nel Task Precedente, e modifica l'ordine nei seguenti modi: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1. Anziche' un Cheeseburger Singolo, scegli il Cheeseburger Doppio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2. Adesso, anziche' 1 Menu Cheeseburger Doppio, aumenta a 2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200" b="0" i="0">
                <a:solidFill>
                  <a:srgbClr val="F8FAFC"/>
                </a:solidFill>
                <a:latin typeface="Sora"/>
              </a:rPr>
              <a:t>Raggiungi il Checkout e assicurati che l'ordine modificato sia corretto.</a:t>
            </a:r>
          </a:p>
        </p:txBody>
      </p:sp>
      <p:pic>
        <p:nvPicPr>
          <p:cNvPr id="428" name="Google Shape;428;p37" title="logo_glovo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0325" y="416263"/>
            <a:ext cx="891600" cy="8916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4" name="Google Shape;404;p35" title="Background 3.png"/>
          <p:cNvPicPr preferRelativeResize="0"/>
          <p:nvPr/>
        </p:nvPicPr>
        <p:blipFill rotWithShape="1">
          <a:blip r:embed="rId2">
            <a:alphaModFix/>
          </a:blip>
          <a:srcRect b="20" l="0" r="0" t="30"/>
          <a:stretch/>
        </p:blipFill>
        <p:spPr>
          <a:xfrm>
            <a:off x="0" y="0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35"/>
          <p:cNvSpPr txBox="1"/>
          <p:nvPr/>
        </p:nvSpPr>
        <p:spPr>
          <a:xfrm>
            <a:off x="800100" y="571500"/>
            <a:ext cx="11361420" cy="581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non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Sora"/>
                <a:ea typeface="Sora"/>
                <a:cs typeface="Sora"/>
                <a:sym typeface="Sora"/>
              </a:rPr>
              <a:t>Conclusione e questionario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571500" y="571500"/>
            <a:ext cx="76200" cy="581025"/>
          </a:xfrm>
          <a:prstGeom prst="rect">
            <a:avLst/>
          </a:prstGeom>
          <a:solidFill>
            <a:srgbClr val="00C7C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>
                <a:solidFill>
                  <a:srgbClr val="F8FAFC"/>
                </a:solidFill>
                <a:latin typeface="Sora"/>
              </a:rP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5"/>
          <p:cNvSpPr txBox="1"/>
          <p:nvPr/>
        </p:nvSpPr>
        <p:spPr>
          <a:xfrm>
            <a:off x="1000000" y="1700000"/>
            <a:ext cx="10192000" cy="4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200" u="none" cap="none" strike="noStrike">
                <a:solidFill>
                  <a:srgbClr val="F8FAFC"/>
                </a:solidFill>
                <a:latin typeface="Sora"/>
                <a:ea typeface="Inter"/>
                <a:cs typeface="Inter"/>
                <a:sym typeface="Inter"/>
              </a:rPr>
              <a:t>Bene! Grazie di aver partecipato ai Test.
Prima di concludere, compila il questionario finale:
serve a raccogliere la tua percezione d'uso su Deliveroo e Glovo dopo l'esperienza pratica.
Link questionario:
SURVEY FORMBRICKS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