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</p:sldIdLst>
  <p:sldSz cy="6858000" cx="12192000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Sor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3249C1-7C9A-47CD-8B0D-511CF3B69D63}">
  <a:tblStyle styleId="{433249C1-7C9A-47CD-8B0D-511CF3B69D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2" Type="http://schemas.openxmlformats.org/officeDocument/2006/relationships/font" Target="fonts/Inter-regular.fntdata"/><Relationship Id="rId33" Type="http://schemas.openxmlformats.org/officeDocument/2006/relationships/font" Target="fonts/Inter-bold.fntdata"/><Relationship Id="rId34" Type="http://schemas.openxmlformats.org/officeDocument/2006/relationships/font" Target="fonts/Inter-italic.fntdata"/><Relationship Id="rId35" Type="http://schemas.openxmlformats.org/officeDocument/2006/relationships/font" Target="fonts/Inter-boldItalic.fntdata"/><Relationship Id="rId36" Type="http://schemas.openxmlformats.org/officeDocument/2006/relationships/font" Target="fonts/BebasNeue-regular.fntdata"/><Relationship Id="rId37" Type="http://schemas.openxmlformats.org/officeDocument/2006/relationships/font" Target="fonts/Sora-regular.fntdata"/><Relationship Id="rId38" Type="http://schemas.openxmlformats.org/officeDocument/2006/relationships/font" Target="fonts/Sora-bold.fntdata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3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8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7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8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3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3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9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5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7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59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6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68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69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6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4" name="Google Shape;84;p13" title="Background 5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24350" y="2300287"/>
            <a:ext cx="354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Progetto 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60570" y="2557462"/>
            <a:ext cx="68708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600" b="1">
                <a:solidFill>
                  <a:srgbClr val="00CCBC"/>
                </a:solidFill>
                <a:latin typeface="Sora"/>
              </a:rPr>
              <a:t>Deliveroo</a:t>
            </a:r>
            <a:r>
              <a:rPr sz="6600" b="1">
                <a:solidFill>
                  <a:srgbClr val="F8FAFC"/>
                </a:solidFill>
                <a:latin typeface="Sora"/>
              </a:rPr>
              <a:t> vs </a:t>
            </a:r>
            <a:r>
              <a:rPr sz="6600" b="1">
                <a:solidFill>
                  <a:srgbClr val="FFC244"/>
                </a:solidFill>
                <a:latin typeface="Sora"/>
              </a:rPr>
              <a:t>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19600" y="3509962"/>
            <a:ext cx="335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133900" y="4132574"/>
            <a:ext cx="19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  Anno accademico 2025/2026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1813" y="4525721"/>
            <a:ext cx="245525" cy="192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1824" y="4098413"/>
            <a:ext cx="24552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logo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0" y="1302350"/>
            <a:ext cx="762000" cy="76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5133900" y="4517849"/>
            <a:ext cx="19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  </a:t>
            </a:r>
            <a:r>
              <a:rPr lang="en-US" sz="1100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Gruppo 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Indice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1" i="0">
                <a:solidFill>
                  <a:srgbClr val="F8FAFC"/>
                </a:solidFill>
                <a:latin typeface="Sora"/>
              </a:rPr>
              <a:t>01 Contesto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Obiettivi, ambiente e app analizzate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1" i="0">
                <a:solidFill>
                  <a:srgbClr val="F8FAFC"/>
                </a:solidFill>
                <a:latin typeface="Sora"/>
              </a:rPr>
              <a:t>02 Analisi esperta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Valutatori, criticità e interventi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1" i="0">
                <a:solidFill>
                  <a:srgbClr val="F8FAFC"/>
                </a:solidFill>
                <a:latin typeface="Sora"/>
              </a:rPr>
              <a:t>03 Test con utenti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Task, tempi, errori e completamento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1" i="0">
                <a:solidFill>
                  <a:srgbClr val="F8FAFC"/>
                </a:solidFill>
                <a:latin typeface="Sora"/>
              </a:rPr>
              <a:t>04 Questionario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Scale, item chiave e percezione d'uso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1" i="0">
                <a:solidFill>
                  <a:srgbClr val="F8FAFC"/>
                </a:solidFill>
                <a:latin typeface="Sora"/>
              </a:rPr>
              <a:t>05 Sintesi finale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Confronto, raccomandazioni e prossimi passi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Google Shape;99;p14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Asset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5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Introduzione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Descrizione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1500" b="0" i="0">
                <a:solidFill>
                  <a:srgbClr val="F8FAFC"/>
                </a:solidFill>
                <a:latin typeface="Sora"/>
              </a:rPr>
              <a:t>Negli ultimi anni le applicazioni di </a:t>
            </a:r>
            <a:r>
              <a:rPr sz="1500" b="1" i="0">
                <a:solidFill>
                  <a:srgbClr val="F8FAFC"/>
                </a:solidFill>
                <a:latin typeface="Sora"/>
              </a:rPr>
              <a:t>food delivery</a:t>
            </a:r>
            <a:r>
              <a:rPr sz="1500" b="0" i="0">
                <a:solidFill>
                  <a:srgbClr val="F8FAFC"/>
                </a:solidFill>
                <a:latin typeface="Sora"/>
              </a:rPr>
              <a:t> sono diventate uno strumento sempre più presente nella vita quotidiana degli utenti, permettendo di ordinare pasti, prodotti essenziali e spesa direttamente da smartphone.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Sora"/>
              </a:rPr>
              <a:t>In questo contesto si inseriscono </a:t>
            </a:r>
            <a:r>
              <a:rPr sz="1500" b="1" i="0">
                <a:solidFill>
                  <a:srgbClr val="00CCBC"/>
                </a:solidFill>
                <a:latin typeface="Sora"/>
              </a:rPr>
              <a:t>Deliveroo</a:t>
            </a:r>
            <a:r>
              <a:rPr sz="1500" b="0" i="0">
                <a:solidFill>
                  <a:srgbClr val="F8FAFC"/>
                </a:solidFill>
                <a:latin typeface="Sora"/>
              </a:rPr>
              <a:t> e </a:t>
            </a:r>
            <a:r>
              <a:rPr sz="15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1500" b="0" i="0">
                <a:solidFill>
                  <a:srgbClr val="F8FAFC"/>
                </a:solidFill>
                <a:latin typeface="Sora"/>
              </a:rPr>
              <a:t>, due servizi diffusi nel mercato del delivery che condividono obiettivi simili, ma propongono </a:t>
            </a:r>
            <a:r>
              <a:rPr sz="1500" b="0" i="1">
                <a:solidFill>
                  <a:srgbClr val="CBD5E1"/>
                </a:solidFill>
                <a:latin typeface="Sora"/>
              </a:rPr>
              <a:t>flussi, scelte di interfaccia e modalità di interazione</a:t>
            </a:r>
            <a:r>
              <a:rPr sz="1500" b="0" i="0">
                <a:solidFill>
                  <a:srgbClr val="F8FAFC"/>
                </a:solidFill>
                <a:latin typeface="Sora"/>
              </a:rPr>
              <a:t> differenti.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Sora"/>
              </a:rPr>
              <a:t>Il problema affrontato in questa analisi nasce dalla necessita di comprendere quanto tali differenze incidano sull'</a:t>
            </a:r>
            <a:r>
              <a:rPr sz="1500" b="1" i="0">
                <a:solidFill>
                  <a:srgbClr val="F8FAFC"/>
                </a:solidFill>
                <a:latin typeface="Sora"/>
              </a:rPr>
              <a:t>usabilità percepita</a:t>
            </a:r>
            <a:r>
              <a:rPr sz="1500" b="0" i="0">
                <a:solidFill>
                  <a:srgbClr val="F8FAFC"/>
                </a:solidFill>
                <a:latin typeface="Sora"/>
              </a:rPr>
              <a:t>, soprattutto durante attività frequenti: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ricerca del ristorante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gestione del carrello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checkout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monitoraggio dell'ordine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Sora"/>
              </a:rPr>
              <a:t>Attraverso un'analisi trasversale di usabilità, lo studio mette a confronto </a:t>
            </a:r>
            <a:r>
              <a:rPr sz="1500" b="1" i="0">
                <a:solidFill>
                  <a:srgbClr val="00CCBC"/>
                </a:solidFill>
                <a:latin typeface="Sora"/>
              </a:rPr>
              <a:t>Deliveroo</a:t>
            </a:r>
            <a:r>
              <a:rPr sz="1500" b="0" i="0">
                <a:solidFill>
                  <a:srgbClr val="F8FAFC"/>
                </a:solidFill>
                <a:latin typeface="Sora"/>
              </a:rPr>
              <a:t> e </a:t>
            </a:r>
            <a:r>
              <a:rPr sz="15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1500" b="0" i="0">
                <a:solidFill>
                  <a:srgbClr val="F8FAFC"/>
                </a:solidFill>
                <a:latin typeface="Sora"/>
              </a:rPr>
              <a:t> evidenziando </a:t>
            </a:r>
            <a:r>
              <a:rPr sz="1500" b="0" i="1">
                <a:solidFill>
                  <a:srgbClr val="CBD5E1"/>
                </a:solidFill>
                <a:latin typeface="Sora"/>
              </a:rPr>
              <a:t>punti di forza</a:t>
            </a:r>
            <a:r>
              <a:rPr sz="1500" b="0" i="0">
                <a:solidFill>
                  <a:srgbClr val="F8FAFC"/>
                </a:solidFill>
                <a:latin typeface="Sora"/>
              </a:rPr>
              <a:t>, </a:t>
            </a:r>
            <a:r>
              <a:rPr sz="1500" b="1" i="0">
                <a:solidFill>
                  <a:srgbClr val="F8FAFC"/>
                </a:solidFill>
                <a:latin typeface="Sora"/>
              </a:rPr>
              <a:t>criticità</a:t>
            </a:r>
            <a:r>
              <a:rPr sz="1500" b="0" i="0">
                <a:solidFill>
                  <a:srgbClr val="F8FAFC"/>
                </a:solidFill>
                <a:latin typeface="Sora"/>
              </a:rPr>
              <a:t> e problemi che possono ostacolare efficacia, efficienza e soddisfazione d'uso.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Ambiente di valutazione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L'analisi e stata condotta confrontando </a:t>
            </a:r>
            <a:r>
              <a:rPr sz="2200" b="1" i="0">
                <a:solidFill>
                  <a:srgbClr val="00CCBC"/>
                </a:solidFill>
                <a:latin typeface="Sora"/>
              </a:rPr>
              <a:t>Deliveroo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</a:t>
            </a:r>
            <a:r>
              <a:rPr sz="22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2200" b="0" i="0">
                <a:solidFill>
                  <a:srgbClr val="F8FAFC"/>
                </a:solidFill>
                <a:latin typeface="Sora"/>
              </a:rPr>
              <a:t> nello stesso ambiente tecnologico, usando dispositivi mobili e condizioni di utilizzo il più possibile comparabili.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Le applicazioni sono state osservate con: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impostazioni standard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lingua italiana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connessione stabile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Lo scenario simulato e quello di un </a:t>
            </a:r>
            <a:r>
              <a:rPr sz="2200" b="1" i="0">
                <a:solidFill>
                  <a:srgbClr val="F8FAFC"/>
                </a:solidFill>
                <a:latin typeface="Sora"/>
              </a:rPr>
              <a:t>utilizzo quotidiano</a:t>
            </a:r>
            <a:r>
              <a:rPr sz="2200" b="0" i="0">
                <a:solidFill>
                  <a:srgbClr val="F8FAFC"/>
                </a:solidFill>
                <a:latin typeface="Sora"/>
              </a:rPr>
              <a:t>: ricerca di un ristorante, selezione dei prodotti, modifica del carrello, pagamento e controllo dello stato della consegna.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13" name="Google Shape;413;p36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100" b="1" i="0">
                <a:solidFill>
                  <a:srgbClr val="00CCBC"/>
                </a:solidFill>
                <a:latin typeface="Sora"/>
              </a:rPr>
              <a:t>Deliveroo</a:t>
            </a:r>
            <a:r>
              <a:rPr sz="2100" b="0" i="0">
                <a:solidFill>
                  <a:srgbClr val="F8FAFC"/>
                </a:solidFill>
                <a:latin typeface="Sora"/>
              </a:rPr>
              <a:t> e un servizio di food delivery che consente di ordinare piatti, spesa e prodotti da ristoranti, supermercati e negozi locali. L'app permette di esplorare partner disponibili nella zona, ordinare con consegna immediata o programmata e seguire l'avanzamento dell'ordine.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100" b="0" i="0">
                <a:solidFill>
                  <a:srgbClr val="F8FAFC"/>
                </a:solidFill>
                <a:latin typeface="Sora"/>
              </a:rPr>
              <a:t>Nell'App Store italiano, alla data di raccolta del </a:t>
            </a:r>
            <a:r>
              <a:rPr sz="2100" b="1" i="0">
                <a:solidFill>
                  <a:srgbClr val="F8FAFC"/>
                </a:solidFill>
                <a:latin typeface="Sora"/>
              </a:rPr>
              <a:t>10 maggio 2026</a:t>
            </a:r>
            <a:r>
              <a:rPr sz="2100" b="0" i="0">
                <a:solidFill>
                  <a:srgbClr val="F8FAFC"/>
                </a:solidFill>
                <a:latin typeface="Sora"/>
              </a:rPr>
              <a:t>, </a:t>
            </a:r>
            <a:r>
              <a:rPr sz="2100" b="1" i="0">
                <a:solidFill>
                  <a:srgbClr val="00CCBC"/>
                </a:solidFill>
                <a:latin typeface="Sora"/>
              </a:rPr>
              <a:t>Deliveroo</a:t>
            </a:r>
            <a:r>
              <a:rPr sz="2100" b="0" i="0">
                <a:solidFill>
                  <a:srgbClr val="F8FAFC"/>
                </a:solidFill>
                <a:latin typeface="Sora"/>
              </a:rPr>
              <a:t> risulta indicata con valutazione </a:t>
            </a:r>
            <a:r>
              <a:rPr sz="2100" b="1" i="0">
                <a:solidFill>
                  <a:srgbClr val="F8FAFC"/>
                </a:solidFill>
                <a:latin typeface="Sora"/>
              </a:rPr>
              <a:t>4,6 su 5</a:t>
            </a:r>
            <a:r>
              <a:rPr sz="2100" b="0" i="0">
                <a:solidFill>
                  <a:srgbClr val="F8FAFC"/>
                </a:solidFill>
                <a:latin typeface="Sora"/>
              </a:rPr>
              <a:t> e circa </a:t>
            </a:r>
            <a:r>
              <a:rPr sz="2100" b="1" i="0">
                <a:solidFill>
                  <a:srgbClr val="F8FAFC"/>
                </a:solidFill>
                <a:latin typeface="Sora"/>
              </a:rPr>
              <a:t>705 mila valutazioni</a:t>
            </a:r>
            <a:r>
              <a:rPr sz="2100" b="0" i="0">
                <a:solidFill>
                  <a:srgbClr val="F8FAFC"/>
                </a:solidFill>
                <a:latin typeface="Sora"/>
              </a:rPr>
              <a:t>. La pagina App Store evidenzia anche funzionalità come tracking dell'ordine, consegna rapida e offerte per utenti Plus.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100" b="0" i="0">
                <a:solidFill>
                  <a:srgbClr val="F8FAFC"/>
                </a:solidFill>
                <a:latin typeface="Sora"/>
              </a:rPr>
              <a:t>Nel contesto di questa analisi, Deliveroo rappresenta un'app centrata sul flusso di ordinazione alimentare, con particolare attenzione alla scelta tra ristoranti, offerte, carrello e stato della consegna.</a:t>
            </a: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23" name="Google Shape;423;p37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1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2100" b="0" i="0">
                <a:solidFill>
                  <a:srgbClr val="F8FAFC"/>
                </a:solidFill>
                <a:latin typeface="Sora"/>
              </a:rPr>
              <a:t> e un'app multi-categoria nata per rendere accessibili prodotti e servizi della città: cibo, spesa, acquisti locali e consegne rapide. L'azienda si presenta come tech company spagnola attiva in Europa, Asia Centrale e Africa.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100" b="0" i="0">
                <a:solidFill>
                  <a:srgbClr val="F8FAFC"/>
                </a:solidFill>
                <a:latin typeface="Sora"/>
              </a:rPr>
              <a:t>Nell'App Store italiano, alla data di raccolta del </a:t>
            </a:r>
            <a:r>
              <a:rPr sz="2100" b="1" i="0">
                <a:solidFill>
                  <a:srgbClr val="F8FAFC"/>
                </a:solidFill>
                <a:latin typeface="Sora"/>
              </a:rPr>
              <a:t>10 maggio 2026</a:t>
            </a:r>
            <a:r>
              <a:rPr sz="2100" b="0" i="0">
                <a:solidFill>
                  <a:srgbClr val="F8FAFC"/>
                </a:solidFill>
                <a:latin typeface="Sora"/>
              </a:rPr>
              <a:t>, </a:t>
            </a:r>
            <a:r>
              <a:rPr sz="21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2100" b="0" i="0">
                <a:solidFill>
                  <a:srgbClr val="F8FAFC"/>
                </a:solidFill>
                <a:latin typeface="Sora"/>
              </a:rPr>
              <a:t> risulta indicata con valutazione </a:t>
            </a:r>
            <a:r>
              <a:rPr sz="2100" b="1" i="0">
                <a:solidFill>
                  <a:srgbClr val="F8FAFC"/>
                </a:solidFill>
                <a:latin typeface="Sora"/>
              </a:rPr>
              <a:t>4,7 su 5</a:t>
            </a:r>
            <a:r>
              <a:rPr sz="2100" b="0" i="0">
                <a:solidFill>
                  <a:srgbClr val="F8FAFC"/>
                </a:solidFill>
                <a:latin typeface="Sora"/>
              </a:rPr>
              <a:t> e circa </a:t>
            </a:r>
            <a:r>
              <a:rPr sz="2100" b="1" i="0">
                <a:solidFill>
                  <a:srgbClr val="F8FAFC"/>
                </a:solidFill>
                <a:latin typeface="Sora"/>
              </a:rPr>
              <a:t>442 mila valutazioni</a:t>
            </a:r>
            <a:r>
              <a:rPr sz="2100" b="0" i="0">
                <a:solidFill>
                  <a:srgbClr val="F8FAFC"/>
                </a:solidFill>
                <a:latin typeface="Sora"/>
              </a:rPr>
              <a:t>. La descrizione dello store riporta oltre </a:t>
            </a:r>
            <a:r>
              <a:rPr sz="2100" b="1" i="0">
                <a:solidFill>
                  <a:srgbClr val="F8FAFC"/>
                </a:solidFill>
                <a:latin typeface="Sora"/>
              </a:rPr>
              <a:t>80 milioni di download</a:t>
            </a:r>
            <a:r>
              <a:rPr sz="2100" b="0" i="0">
                <a:solidFill>
                  <a:srgbClr val="F8FAFC"/>
                </a:solidFill>
                <a:latin typeface="Sora"/>
              </a:rPr>
              <a:t>, </a:t>
            </a:r>
            <a:r>
              <a:rPr sz="2100" b="1" i="0">
                <a:solidFill>
                  <a:srgbClr val="F8FAFC"/>
                </a:solidFill>
                <a:latin typeface="Sora"/>
              </a:rPr>
              <a:t>23 paesi serviti</a:t>
            </a:r>
            <a:r>
              <a:rPr sz="2100" b="0" i="0">
                <a:solidFill>
                  <a:srgbClr val="F8FAFC"/>
                </a:solidFill>
                <a:latin typeface="Sora"/>
              </a:rPr>
              <a:t> e più di </a:t>
            </a:r>
            <a:r>
              <a:rPr sz="2100" b="1" i="0">
                <a:solidFill>
                  <a:srgbClr val="F8FAFC"/>
                </a:solidFill>
                <a:latin typeface="Sora"/>
              </a:rPr>
              <a:t>240 mila ristoranti e store</a:t>
            </a:r>
            <a:r>
              <a:rPr sz="2100" b="0" i="0">
                <a:solidFill>
                  <a:srgbClr val="F8FAFC"/>
                </a:solidFill>
                <a:latin typeface="Sora"/>
              </a:rPr>
              <a:t> disponibili.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100" b="0" i="0">
                <a:solidFill>
                  <a:srgbClr val="F8FAFC"/>
                </a:solidFill>
                <a:latin typeface="Sora"/>
              </a:rPr>
              <a:t>Nel contesto di questa analisi, </a:t>
            </a:r>
            <a:r>
              <a:rPr sz="21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2100" b="0" i="0">
                <a:solidFill>
                  <a:srgbClr val="F8FAFC"/>
                </a:solidFill>
                <a:latin typeface="Sora"/>
              </a:rPr>
              <a:t> rappresenta un sistema più ampio del solo food delivery, con un'interfaccia orientata alla scelta di categorie, negozi e servizi in tempi rapidi.</a:t>
            </a: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Google Shape;99;p14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Asset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5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Valutazione euristica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Obiettivo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1900" b="0" i="0">
                <a:solidFill>
                  <a:srgbClr val="F8FAFC"/>
                </a:solidFill>
                <a:latin typeface="Sora"/>
              </a:rPr>
              <a:t>L'obiettivo della </a:t>
            </a:r>
            <a:r>
              <a:rPr sz="1900" b="1" i="0">
                <a:solidFill>
                  <a:srgbClr val="38BDF8"/>
                </a:solidFill>
                <a:latin typeface="Sora"/>
              </a:rPr>
              <a:t>valutazione euristica</a:t>
            </a:r>
            <a:r>
              <a:rPr sz="1900" b="0" i="0">
                <a:solidFill>
                  <a:srgbClr val="F8FAFC"/>
                </a:solidFill>
                <a:latin typeface="Sora"/>
              </a:rPr>
              <a:t> e condurre un'analisi qualitativa dell'usabilità di </a:t>
            </a:r>
            <a:r>
              <a:rPr sz="1900" b="1" i="0">
                <a:solidFill>
                  <a:srgbClr val="00CCBC"/>
                </a:solidFill>
                <a:latin typeface="Sora"/>
              </a:rPr>
              <a:t>Deliveroo</a:t>
            </a:r>
            <a:r>
              <a:rPr sz="1900" b="0" i="0">
                <a:solidFill>
                  <a:srgbClr val="F8FAFC"/>
                </a:solidFill>
                <a:latin typeface="Sora"/>
              </a:rPr>
              <a:t> e </a:t>
            </a:r>
            <a:r>
              <a:rPr sz="19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1900" b="0" i="0">
                <a:solidFill>
                  <a:srgbClr val="F8FAFC"/>
                </a:solidFill>
                <a:latin typeface="Sora"/>
              </a:rPr>
              <a:t>, fornendo una base utile per individuare criticità progettuali e differenze nell'esperienza d'uso.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F8FAFC"/>
                </a:solidFill>
                <a:latin typeface="Sora"/>
              </a:rPr>
              <a:t>Attraverso l'applicazione delle </a:t>
            </a:r>
            <a:r>
              <a:rPr sz="1900" b="1" i="0">
                <a:solidFill>
                  <a:srgbClr val="F8FAFC"/>
                </a:solidFill>
                <a:latin typeface="Sora"/>
              </a:rPr>
              <a:t>euristiche di Nielsen</a:t>
            </a:r>
            <a:r>
              <a:rPr sz="1900" b="0" i="0">
                <a:solidFill>
                  <a:srgbClr val="F8FAFC"/>
                </a:solidFill>
                <a:latin typeface="Sora"/>
              </a:rPr>
              <a:t>, l'analisi mira a riconoscere problemi legati a: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>
                <a:solidFill>
                  <a:srgbClr val="F8FAFC"/>
                </a:solidFill>
                <a:latin typeface="Sora"/>
              </a:rPr>
              <a:t>- </a:t>
            </a:r>
            <a:r>
              <a:rPr sz="1900" b="0" i="0">
                <a:solidFill>
                  <a:srgbClr val="F8FAFC"/>
                </a:solidFill>
                <a:latin typeface="Sora"/>
              </a:rPr>
              <a:t>chiarezza dell'interfaccia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>
                <a:solidFill>
                  <a:srgbClr val="F8FAFC"/>
                </a:solidFill>
                <a:latin typeface="Sora"/>
              </a:rPr>
              <a:t>- </a:t>
            </a:r>
            <a:r>
              <a:rPr sz="1900" b="0" i="0">
                <a:solidFill>
                  <a:srgbClr val="F8FAFC"/>
                </a:solidFill>
                <a:latin typeface="Sora"/>
              </a:rPr>
              <a:t>controllo dell'utente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>
                <a:solidFill>
                  <a:srgbClr val="F8FAFC"/>
                </a:solidFill>
                <a:latin typeface="Sora"/>
              </a:rPr>
              <a:t>- </a:t>
            </a:r>
            <a:r>
              <a:rPr sz="1900" b="0" i="0">
                <a:solidFill>
                  <a:srgbClr val="F8FAFC"/>
                </a:solidFill>
                <a:latin typeface="Sora"/>
              </a:rPr>
              <a:t>coerenza dei comandi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>
                <a:solidFill>
                  <a:srgbClr val="F8FAFC"/>
                </a:solidFill>
                <a:latin typeface="Sora"/>
              </a:rPr>
              <a:t>- </a:t>
            </a:r>
            <a:r>
              <a:rPr sz="1900" b="0" i="0">
                <a:solidFill>
                  <a:srgbClr val="F8FAFC"/>
                </a:solidFill>
                <a:latin typeface="Sora"/>
              </a:rPr>
              <a:t>prevenzione degli errori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>
                <a:solidFill>
                  <a:srgbClr val="F8FAFC"/>
                </a:solidFill>
                <a:latin typeface="Sora"/>
              </a:rPr>
              <a:t>- </a:t>
            </a:r>
            <a:r>
              <a:rPr sz="1900" b="0" i="0">
                <a:solidFill>
                  <a:srgbClr val="F8FAFC"/>
                </a:solidFill>
                <a:latin typeface="Sora"/>
              </a:rPr>
              <a:t>visibilita dello stato del sistema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F8FAFC"/>
                </a:solidFill>
                <a:latin typeface="Sora"/>
              </a:rPr>
              <a:t>I problemi emersi vengono descritti in linguaggio naturale e associati alle euristiche violate, così da evidenziare </a:t>
            </a:r>
            <a:r>
              <a:rPr sz="1900" b="0" i="1">
                <a:solidFill>
                  <a:srgbClr val="CBD5E1"/>
                </a:solidFill>
                <a:latin typeface="Sora"/>
              </a:rPr>
              <a:t>punti di forza</a:t>
            </a:r>
            <a:r>
              <a:rPr sz="1900" b="0" i="0">
                <a:solidFill>
                  <a:srgbClr val="F8FAFC"/>
                </a:solidFill>
                <a:latin typeface="Sora"/>
              </a:rPr>
              <a:t> e </a:t>
            </a:r>
            <a:r>
              <a:rPr sz="1900" b="1" i="0">
                <a:solidFill>
                  <a:srgbClr val="F8FAFC"/>
                </a:solidFill>
                <a:latin typeface="Sora"/>
              </a:rPr>
              <a:t>debolezza</a:t>
            </a:r>
            <a:r>
              <a:rPr sz="1900" b="0" i="0">
                <a:solidFill>
                  <a:srgbClr val="F8FAFC"/>
                </a:solidFill>
                <a:latin typeface="Sora"/>
              </a:rPr>
              <a:t> dei due sistemi.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Set di euristiche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1500" b="0" i="0">
                <a:solidFill>
                  <a:srgbClr val="F8FAFC"/>
                </a:solidFill>
                <a:latin typeface="Sora"/>
              </a:rPr>
              <a:t>Le </a:t>
            </a:r>
            <a:r>
              <a:rPr sz="1500" b="1" i="0">
                <a:solidFill>
                  <a:srgbClr val="F8FAFC"/>
                </a:solidFill>
                <a:latin typeface="Sora"/>
              </a:rPr>
              <a:t>10 euristiche di Nielsen</a:t>
            </a:r>
            <a:r>
              <a:rPr sz="1500" b="0" i="0">
                <a:solidFill>
                  <a:srgbClr val="F8FAFC"/>
                </a:solidFill>
                <a:latin typeface="Sora"/>
              </a:rPr>
              <a:t> sono principi generali di usabilità utilizzati per valutare la qualità dell'interazione tra utente e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Sora"/>
              </a:rPr>
              <a:t>Il set comprende: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visibilita dello stato del sistema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corrispondenza con il mondo reale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controllo e libertà dell'utente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consistenza e standard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prevenzione dell'errore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riconoscimento invece di ricordo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flessibilita ed efficienza d'uso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estetica e minimalismo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aiuto nel riconoscere e correggere errori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F8FAFC"/>
                </a:solidFill>
                <a:latin typeface="Sora"/>
              </a:rPr>
              <a:t>- </a:t>
            </a:r>
            <a:r>
              <a:rPr sz="1500" b="0" i="0">
                <a:solidFill>
                  <a:srgbClr val="F8FAFC"/>
                </a:solidFill>
                <a:latin typeface="Sora"/>
              </a:rPr>
              <a:t>aiuto e documentazione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Sora"/>
              </a:rPr>
              <a:t>Questi principi permettono di classificare le </a:t>
            </a:r>
            <a:r>
              <a:rPr sz="1500" b="1" i="0">
                <a:solidFill>
                  <a:srgbClr val="F8FAFC"/>
                </a:solidFill>
                <a:latin typeface="Sora"/>
              </a:rPr>
              <a:t>criticità osservate</a:t>
            </a:r>
            <a:r>
              <a:rPr sz="1500" b="0" i="0">
                <a:solidFill>
                  <a:srgbClr val="F8FAFC"/>
                </a:solidFill>
                <a:latin typeface="Sora"/>
              </a:rPr>
              <a:t> nelle due app e di collegarle a dimensioni cognitive, percettive e operative dell'interazione.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Valutatori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Il gruppo di valutazione e composto da </a:t>
            </a:r>
            <a:r>
              <a:rPr sz="2200" b="1" i="0">
                <a:solidFill>
                  <a:srgbClr val="F8FAFC"/>
                </a:solidFill>
                <a:latin typeface="Sora"/>
              </a:rPr>
              <a:t>utenti esperti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valutatori con familiarita diversa rispetto alle app di delivery.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Gli esperti di usabilità si concentrano sulla </a:t>
            </a:r>
            <a:r>
              <a:rPr sz="2200" b="1" i="0">
                <a:solidFill>
                  <a:srgbClr val="F8FAFC"/>
                </a:solidFill>
                <a:latin typeface="Sora"/>
              </a:rPr>
              <a:t>qualità dell'interfaccia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sul rispetto dei principi di interazione, mentre gli esperti di dominio contribuiscono con osservazioni legate all'esperienza concreta di ordinazione e consegna.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La combinazione dei due punti di vista permette di analizzare: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progettazione dell'interfaccia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difficolta che emergono in scenari realistici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66" name="Google Shape;166;p21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Tabella dei valutatori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Dati ordinati e sintetizzati per la presentazione finale.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Rounded Rectangle 17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2" name="Table 171"/>
          <p:cNvGraphicFramePr>
            <a:graphicFrameLocks noGrp="1"/>
          </p:cNvGraphicFramePr>
          <p:nvPr/>
        </p:nvGraphicFramePr>
        <p:xfrm>
          <a:off x="571500" y="1533525"/>
          <a:ext cx="11048995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133"/>
                <a:gridCol w="1180133"/>
                <a:gridCol w="2116864"/>
                <a:gridCol w="1261267"/>
                <a:gridCol w="1829206"/>
                <a:gridCol w="1829206"/>
                <a:gridCol w="1652186"/>
              </a:tblGrid>
              <a:tr h="527777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8FAFC"/>
                          </a:solidFill>
                          <a:latin typeface="Sora"/>
                        </a:rPr>
                        <a:t>Valutatore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8FAFC"/>
                          </a:solidFill>
                          <a:latin typeface="Sora"/>
                        </a:rPr>
                        <a:t>Genere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8FAFC"/>
                          </a:solidFill>
                          <a:latin typeface="Sora"/>
                        </a:rPr>
                        <a:t>Eta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8FAFC"/>
                          </a:solidFill>
                          <a:latin typeface="Sora"/>
                        </a:rPr>
                        <a:t>Profilo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8FAFC"/>
                          </a:solidFill>
                          <a:latin typeface="Sora"/>
                        </a:rPr>
                        <a:t>Familiarita delivery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8FAFC"/>
                          </a:solidFill>
                          <a:latin typeface="Sora"/>
                        </a:rPr>
                        <a:t>Esperienza usabilità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8FAFC"/>
                          </a:solidFill>
                          <a:latin typeface="Sora"/>
                        </a:rPr>
                        <a:t>Esperienza dominio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527777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ED4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Maschio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Più di 45 Anni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Impiegato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27777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ED3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Maschio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Meno di 25 Anni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Studente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27777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EU3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Maschio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Meno di 25 Anni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Studente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27777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ED2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Femmina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Meno di 25 Anni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Studente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27777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EU2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Maschio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Meno di 25 Anni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Studente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27777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EU4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Maschio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Meno di 25 Anni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Studente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9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27777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ED1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Maschio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Meno di 25 Anni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Studente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27784"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EU1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Femmina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Meno di 25 Anni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Studente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9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E5E7EB"/>
                          </a:solidFill>
                          <a:latin typeface="Sora"/>
                        </a:rPr>
                        <a:t>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5" name="Google Shape;155;p20" title="Background 0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Composizione del campione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composizione del campione viene letta dai dati raccolti e visualizzata attraverso grafici su eta, genere, occupazione e familiarita.
Questi elementi servono a interpretare i risultati tenendo conto del profilo dei partecipanti e del loro livello di esperienza con servizi simili.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Picture 160" descr="age_distribution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67159"/>
            <a:ext cx="5334000" cy="2973357"/>
          </a:xfrm>
          <a:prstGeom prst="rect">
            <a:avLst/>
          </a:prstGeom>
        </p:spPr>
      </p:pic>
      <p:pic>
        <p:nvPicPr>
          <p:cNvPr id="162" name="Picture 161" descr="gender_distributi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569038"/>
            <a:ext cx="5334000" cy="296959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5" name="Google Shape;155;p20" title="Background 0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Composizione del campione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composizione del campione viene letta dai dati raccolti e visualizzata attraverso grafici su eta, genere, occupazione e familiarita.
Questi elementi servono a interpretare i risultati tenendo conto del profilo dei partecipanti e del loro livello di esperienza con servizi simili.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Picture 160" descr="occupation_distribution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67159"/>
            <a:ext cx="5334000" cy="2973357"/>
          </a:xfrm>
          <a:prstGeom prst="rect">
            <a:avLst/>
          </a:prstGeom>
        </p:spPr>
      </p:pic>
      <p:pic>
        <p:nvPicPr>
          <p:cNvPr id="162" name="Picture 161" descr="familiarity_distributi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567159"/>
            <a:ext cx="5334000" cy="297335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Problemi riscontrati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Nelle slide successive viene presentata una lista dei </a:t>
            </a:r>
            <a:r>
              <a:rPr sz="2200" b="1" i="0">
                <a:solidFill>
                  <a:srgbClr val="38BDF8"/>
                </a:solidFill>
                <a:latin typeface="Sora"/>
              </a:rPr>
              <a:t>problemi di usabilità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emersi durante la valutazione euristica dei due sistemi.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Per ciascun problema e stata valutata la </a:t>
            </a:r>
            <a:r>
              <a:rPr sz="2200" b="1" i="0">
                <a:solidFill>
                  <a:srgbClr val="F8FAFC"/>
                </a:solidFill>
                <a:latin typeface="Sora"/>
              </a:rPr>
              <a:t>gravita percepita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assegnando un punteggio su scala </a:t>
            </a:r>
            <a:r>
              <a:rPr sz="2200" b="1" i="0">
                <a:solidFill>
                  <a:srgbClr val="F8FAFC"/>
                </a:solidFill>
                <a:latin typeface="Sora"/>
              </a:rPr>
              <a:t>0-4</a:t>
            </a:r>
            <a:r>
              <a:rPr sz="2200" b="0" i="0">
                <a:solidFill>
                  <a:srgbClr val="F8FAFC"/>
                </a:solidFill>
                <a:latin typeface="Sora"/>
              </a:rPr>
              <a:t>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0 indica assenza di problema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4 indica una criticità da affrontare con priorità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I problemi sono stati poi ordinati e classificati per </a:t>
            </a:r>
            <a:r>
              <a:rPr sz="2200" b="1" i="0">
                <a:solidFill>
                  <a:srgbClr val="38BDF8"/>
                </a:solidFill>
                <a:latin typeface="Sora"/>
              </a:rPr>
              <a:t>priorità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distinguendo le criticità più rilevanti da quelle meno urgenti.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Criteri di prioritizzazione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La prioritizzazione si basa su tre parametri: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1" i="0">
                <a:solidFill>
                  <a:srgbClr val="F8FAFC"/>
                </a:solidFill>
                <a:latin typeface="Sora"/>
              </a:rPr>
              <a:t>frequenza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di occorrenza del problema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1" i="0">
                <a:solidFill>
                  <a:srgbClr val="F8FAFC"/>
                </a:solidFill>
                <a:latin typeface="Sora"/>
              </a:rPr>
              <a:t>impatto</a:t>
            </a:r>
            <a:r>
              <a:rPr sz="2200" b="0" i="0">
                <a:solidFill>
                  <a:srgbClr val="F8FAFC"/>
                </a:solidFill>
                <a:latin typeface="Sora"/>
              </a:rPr>
              <a:t> sul task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1" i="0">
                <a:solidFill>
                  <a:srgbClr val="F8FAFC"/>
                </a:solidFill>
                <a:latin typeface="Sora"/>
              </a:rPr>
              <a:t>persistenza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della criticità durante l'interazione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I valutatori assegnano un punteggio di gravita da </a:t>
            </a:r>
            <a:r>
              <a:rPr sz="2200" b="1" i="0">
                <a:solidFill>
                  <a:srgbClr val="F8FAFC"/>
                </a:solidFill>
                <a:latin typeface="Sora"/>
              </a:rPr>
              <a:t>0 a 4</a:t>
            </a:r>
            <a:r>
              <a:rPr sz="2200" b="0" i="0">
                <a:solidFill>
                  <a:srgbClr val="F8FAFC"/>
                </a:solidFill>
                <a:latin typeface="Sora"/>
              </a:rPr>
              <a:t>. I valori più alti indicano problemi rilevanti o di assoluta </a:t>
            </a:r>
            <a:r>
              <a:rPr sz="2200" b="1" i="0">
                <a:solidFill>
                  <a:srgbClr val="38BDF8"/>
                </a:solidFill>
                <a:latin typeface="Sora"/>
              </a:rPr>
              <a:t>priorità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mentre i valori più bassi indicano criticità marginali o assenti.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Questa lettura permette di individuare quali problemi richiedono </a:t>
            </a:r>
            <a:r>
              <a:rPr sz="2200" b="1" i="0">
                <a:solidFill>
                  <a:srgbClr val="F8FAFC"/>
                </a:solidFill>
                <a:latin typeface="Sora"/>
              </a:rPr>
              <a:t>interventi immediati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quali possono essere considerati secondari.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Classificazione in fasce di priorità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Dopo la prima suddivisione dei problemi, le criticità vengono organizzate in fasce di priorità.
La fascia A raccoglie i problemi più urgenti, la fascia B quelli intermedi e la fascia C quelli meno prioritari.
La classificazione consente di trasformare l'elenco delle osservazioni qualitative in una mappa di intervento più leggibile.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6" name="Google Shape;176;p22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Deliveroo (1/4)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2" name="Table 18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Mancanza di trasparenza informativa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Il sistema non mette a disposizione tutte le informazioni importanti per l'utente. Ad esempio, nella sezione "Allergeni" di ciascun prodotto, non vengono mostrati dati di riferimento esplicitamente: l'utente viene riman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E7;E10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Assenza di barriere di conferma per transazioni finanziarie gravi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Il pulsante di finalizzazione dell'ordine esegue l'addebito economico in modo immediato e automatico con un singolo tocco, senza presentare una finestra di dialogo intermedia per la prevenzione di tocchi d'errore.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E3;E5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3.38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Comando di annullamento controintuitivo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Il comando per richiedere l'annullamento di un ordine non gode di rilevanza visiva ed è subordinato gerarchicamente alla voce "Aiuto", ostacolando il diritto dell'utente al controllo tempestivo.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Funzione "Riordina" incoerente con il modello mentale dell'utente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sezione "Riordina" suggerisce la possibilità di replicare un acquisto pregresso con un singolo tocco; l'azione reindirizza, invece, alla pagina generale del ristorante, costringendo a reinserire manualmente i prodott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E3;E7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2.88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Frammentazione delle informazioni di configurazione dell'ordine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Le impostazioni relative a orario di consegna, indirizzo e modalità di pagamento sono frammentate tra la schermata del carrello e la pagina finale di checkout, aumentando il carico procedurale.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E4;E5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6" name="Google Shape;176;p22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Deliveroo (2/4)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2" name="Table 18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Sistema di filtraggio non conforme agli standard di categoria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L'architettura dei filtri non segue criteri di ordinamento logici o categorizzati, disorientando l'utente durante la navigazione.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E4;E8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P006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Sovraffollamento visivo causato da elementi promozionali invasivi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presenza diffusa di banner pubblicitari non integrati armonicamente nel layout degrada l'esperienza d'uso complessiva e riduce la visibilità dei contenuti informativi primari.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Scarsa evidenza visiva dei modificatori obbligatori di prodotto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Durante la configurazione di un articolo da aggiungere al carrello, la distinzione grafica tra i campi di selezione opzionali e quelli strettamente obbligatori risulta insufficiente e ambigua.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2.38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P019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Stato di operatività dei locali non facilmente visibile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Nella schermata principale e nei risultati di ricerca, l'applicazione non differenzia in modo visivamente netto e immediato i partner commerciali momentaneamente chiusi da quelli attivi, aumentando il carico visivo e co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E1;E6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2.38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Feedback diagnostico incompleto sui campi obbligatori falliti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In caso di mancata compilazione di un campo obbligatorio, il sistema evidenzia l'area ma non esplicita la natura dell'errore (es. numero di opzioni minime richieste non soddisfatte), impedendo un recupero rapido.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2.38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6" name="Google Shape;176;p22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Deliveroo (3/4)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2" name="Table 18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Ridondanza di posizionamento (duplicazione dei brand sponsorizzati)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Nella lista dei ristoranti popolari in Home, i marchi partner sponsorizzati possono comparire ripetuti più volte all'interno dello stesso elenco, violando il principio di minimalizzazione dei dati.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2.25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Persistenza del carrello non comunicata visivamente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Se l'utente aggiunge prodotti al carrello all'interno della pagina di un locale e naviga a ritroso verso la Home, il carrello viene memorizzato in background senza alcuna notifica o indicatore grafico persistente nell'i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E1;E3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Ridondanza e duplicazione dei punti di inserimento dati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 campi relativi all'indirizzo e all'orario di consegna risultano configurabili sia nella Home sia durante i successivi passaggi di checkout, generando ridondanza informativa.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Mancanza di granularità temporale nella Progress Bar di tracking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barra di avanzamento dello stato dell'ordine fornisce un feedback puramente qualitativo, omettendo l'indicazione delle fasi intermedie e dei relativi timestamp orari di completamento.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Carenza di gerarchia visiva ed elementi di separazione nella Home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pagina principale presenta raggruppamenti di contenuti e card informative privi di una chiara demarcazione strutturale e spaziale.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1.75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6" name="Google Shape;176;p22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Deliveroo (4/4)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2" name="Table 18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Conflitto di navigazione bidimensionale (Scroll asincrono)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L'applicazione adotta contemporaneamente e nella stessa schermata pattern di scorrimento sia verticali sia orizzontali, incrementando il carico cognitivo e la possibilità di interazioni errate accidentali.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1.75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Ambiguità e duplicazione nel set iconografico del Design System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All'interno dei menu di ricerca vengono impiegate icone identiche o fortemente ripetitive per rappresentare categorie differenti, riducendone il valore semantico e intuitivo.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E4;E6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1.62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Rottura dell'esperienza d'uso nativa (Web View integrata male)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sezione dedicata alle "Gift Card" viene caricata tramite una finestra web nativa (Web View) non ottimizzata, le cui proprietà visive e di navigazione divergono dai pattern grafici dell'applicazione.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1.62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P005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Incoerenza di layout strutturale nella sezione "Spesa"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schermata "Spesa" posiziona un banner promozionale al di sopra della barra di ricerca, spezzando il design pattern consolidato nelle restanti sezioni dell'app che prevede la search bar ancorata in alto.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1.12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P016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Codifica cromatica non standard nella schermata di recensione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All'interno della pagina delle recensioni, l'associazione dei colori ai punteggi non rispetta le convenzioni culturali e i modelli mentali comuni (es. utilizzo del blu in contesti di feedback critici o negativi).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6" name="Google Shape;186;p23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Glovo (1/4)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2" name="Table 19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Mancanza di trasparenza informativa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Il sistema non mette a disposizione tutte le informazioni importanti per l'utente. Ad esempio, nella sezione "Allergeni" di ciascun prodotto, non vengono mostrati dati di riferimento esplicitamente: l'utente viene riman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E7;E10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3.38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Assenza di barriere di conferma per transazioni finanziarie gravi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Il pulsante di finalizzazione dell'ordine esegue l'addebito economico in modo immediato e automatico con un singolo tocco, senza presentare una finestra di dialogo intermedia per la prevenzione di tocchi d'errore.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E3;E5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3.38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Assenza di un'interfaccia di consultazione per i partner preferiti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L'interfaccia consente all'utente di contrassegnare un ristorante come "Preferito", ma non fornisce una schermata o una sezione dedicata per consultare la lista degli elementi salvati, annullando l'utilità della funzion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E3;E7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3.12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Comando annullamento controintuitivo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Il comando per richiedere l'annullamento di un ordine non gode di rilevanza visiva ed è subordinato gerarchicamente alla voce "Aiuto", ostacolando il diritto dell'utente al controllo tempestivo.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Oscuramento funzionale della sezione "Link Account" nel carrello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sezione che permette di associare account partner per ottenere sconti è posizionata in fondo alla pagina del carrello e viene interamente nascosta visivamente da un blocco invasivo di prodotti consigliati (upselling).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E6;E8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3.0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6" name="Google Shape;186;p23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Glovo (2/4)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2" name="Table 19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Sovrascrittura arbitraria del sistema sull'indirizzo di consegna selezionato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Dopo che l'utente ha impostato manualmente un indirizzo specifico e avviato l'ordine, la schermata di checkout resetta la scelta riposizionando la consegna sulla geolocalizzazione attuale del dispositivo, generando grav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E3;E5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2.88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P039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Deficit di trasparenza sui motivi di annullamento d'ufficio dell'ordine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Qualora un ordine venga annullato direttamente dal sistema o dal locale partner dopo il pagamento, l'applicazione avvia la procedura di rimborso monetario ma omette completamente di mostrare la motivazione diagnostica 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E1;E9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2.75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Mancanza di feedback sullo stato di accettazione dell'ordine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In seguito alla finalizzazione dell'acquisto, il sistema non invia una notifica esplicita e tempestiva per confermare che il locale partner abbia effettivamente preso in carico la preparazione, lasciando l'utente in uno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2.62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Mancanza di vincoli sintattici per i campi obbligatori nel checkout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All'interno della schermata di checkout, alcuni campi di input strettamente necessari per la finalizzazione dell'ordine non sono contrassegnati visivamente come obbligatori, inducendo l'utente all'errore di invio.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2.38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Feedback diagnostico incompleto sui modificatori obbligatori falliti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In caso di mancata compilazione di un campo obbligatorio, il sistema evidenzia l'area ma non esplicita la natura dell'errore (es. numero di opzioni minime richieste non soddisfatte), impedendo un recupero rapido.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2.38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6" name="Google Shape;186;p23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Glovo (3/4)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2" name="Table 19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P040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Assenza di tolleranza sistemica agli errori ortografici nella ricerca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barra di ricerca non integra algoritmi di correzione o suggerimento per i refusi; se l'utente commette un minimo errore di ortografia, il sistema restituisce una schermata vuota di zero risultati, scaricando l'errore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E5;E9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2.38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Incoerenza informativa e fluttuazioni asincrone nel tracking orario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Durante la fase di tracking post-acquisto, il tempo stimato di consegna si aggiorna visualizzando variazioni orarie repentine e salti temporali incoerenti, senza fornire all'utente alcuna giustificazione logica o sistem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2.25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Sistema di filtraggio non conforme agli standard di categoria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L'architettura dei filtri non segue criteri di ordinamento logici o categorizzati, disorientando l'utente durante la navigazione.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E4;E8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2.12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Carenza di gerarchia visiva ed elementi di separazione nella Home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La pagina principale presenta raggruppamenti di contenuti e card informative privi di una chiara demarcazione strutturale e spaziale.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Deficit di accessibilità e visibilità per le informative sui costi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Il collegamento ipertestuale che rimanda alle tabelle di dettaglio sui costi di consegna e sulle commissioni di servizio presenta un contrasto cromatico e una dimensione del font insufficienti, risultando quasi invisibi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E1;E3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2.0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6" name="Google Shape;186;p23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Problemi Glovo (4/4)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Ordinati per priorità e severità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2" name="Table 191"/>
          <p:cNvGraphicFramePr>
            <a:graphicFrameLocks noGrp="1"/>
          </p:cNvGraphicFramePr>
          <p:nvPr/>
        </p:nvGraphicFramePr>
        <p:xfrm>
          <a:off x="571500" y="1533525"/>
          <a:ext cx="11049000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2430780"/>
                <a:gridCol w="4861560"/>
                <a:gridCol w="1215390"/>
                <a:gridCol w="883920"/>
                <a:gridCol w="883920"/>
              </a:tblGrid>
              <a:tr h="791666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Titolo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Descrizione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Euristiche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Severità media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8FAFC"/>
                          </a:solidFill>
                          <a:latin typeface="Sora"/>
                        </a:rPr>
                        <a:t>Priorità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Persistenza del carrello non comunicata visivamente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Se l'utente aggiunge prodotti al carrello all'interno della pagina di un locale e naviga a ritroso verso la Home, il carrello viene memorizzato in background senza alcuna notifica o indicatore grafico persistente nell'i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E1;E3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1.88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Inclusione di feature social estranee al dominio dell'applicazione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L'applicazione integra una funzionalità per sincronizzare la rubrica telefonica e aggiungere amici. Tale caratteristica risulta irrilevante rispetto al task principale dell'utente (food delivery), sovraccaricando l'arch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1.88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P036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Carenza di trasparenza e marcatori visivi per i contenuti sponsorizzati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All'interno della sezione "Scopri", i ristoranti che beneficiano di inserzioni pubblicitarie a pagamento vengono inseriti nelle categorie organiche (es. "Popolari") senza un label chiaro (es. "Sponsorizzato") che li dis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1.75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91666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Conflitto di navigazione bidimensionale (Scroll asincrono)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L'applicazione adotta contemporaneamente e nella stessa schermata pattern di scorrimento sia verticali sia orizzontali, incrementando il carico cognitivo e la possibilità di interazioni errate accidentali.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1.62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91670"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P025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Ambiguità e ridondanza nel set iconografico del Design System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All'interno dei menu di ricerca vengono impiegate icone identiche o fortemente ripetitive per rappresentare categorie differenti, riducendone il valore semantico e intuitivo.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E4;E6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1.38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0" b="0">
                          <a:solidFill>
                            <a:srgbClr val="E5E7EB"/>
                          </a:solidFill>
                          <a:latin typeface="Sora"/>
                        </a:rPr>
                        <a:t>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7" name="Google Shape;137;p18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Matrice problemi-valutatori 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matrice problemi-valutatori mostra quali criticità sono state individuate da ciascun valutatore e permette di osservare ricorrenze, accordi e differenze tra i giudizi.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Picture 140" descr="problem_evaluator_matrix_deliveroo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3373308"/>
            <a:ext cx="10900000" cy="186338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6" name="Google Shape;146;p19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Matrice problemi-valutatori 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matrice problemi-valutatori mostra quali criticità sono state individuate da ciascun valutatore e permette di osservare ricorrenze, accordi e differenze tra i giudizi.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Picture 149" descr="problem_evaluator_matrix_glovo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" y="3038233"/>
            <a:ext cx="10900000" cy="253353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5" name="Google Shape;155;p20" title="Background 0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Distribuzione delle euristiche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euristiche violate permette di capire quali dimensioni dell'interazione risultano più problematiche nei due sistemi.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Picture 160" descr="heuristics_distribution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02654"/>
            <a:ext cx="5334000" cy="2902367"/>
          </a:xfrm>
          <a:prstGeom prst="rect">
            <a:avLst/>
          </a:prstGeom>
        </p:spPr>
      </p:pic>
      <p:pic>
        <p:nvPicPr>
          <p:cNvPr id="162" name="Picture 161" descr="heuristics_by_category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601155"/>
            <a:ext cx="5334000" cy="290536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Valutazione 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La valutazione quantitativa delle criticità deve essere letta come supporto alla discussione qualitativa.
L'obiettivo non e produrre un verdetto automatico, ma individuare le aree di intervento più importanti per migliorare l'esperienza utente.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Google Shape;99;p14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Asset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5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Test utente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Obiettivo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Per valutare </a:t>
            </a:r>
            <a:r>
              <a:rPr sz="2200" b="1" i="0">
                <a:solidFill>
                  <a:srgbClr val="F8FAFC"/>
                </a:solidFill>
                <a:latin typeface="Sora"/>
              </a:rPr>
              <a:t>efficacia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ed </a:t>
            </a:r>
            <a:r>
              <a:rPr sz="2200" b="1" i="0">
                <a:solidFill>
                  <a:srgbClr val="F8FAFC"/>
                </a:solidFill>
                <a:latin typeface="Sora"/>
              </a:rPr>
              <a:t>efficienza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dei due servizi, sono stati svolti </a:t>
            </a:r>
            <a:r>
              <a:rPr sz="2200" b="1" i="0">
                <a:solidFill>
                  <a:srgbClr val="A78BFA"/>
                </a:solidFill>
                <a:latin typeface="Sora"/>
              </a:rPr>
              <a:t>user test</a:t>
            </a:r>
            <a:r>
              <a:rPr sz="2200" b="0" i="0">
                <a:solidFill>
                  <a:srgbClr val="F8FAFC"/>
                </a:solidFill>
                <a:latin typeface="Sora"/>
              </a:rPr>
              <a:t> basati su task rappresentativi del processo di ordinazione.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Durante i test sono stati osservati: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completamento del task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errori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richieste di aiuto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tempo impiegato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Il confronto tra </a:t>
            </a:r>
            <a:r>
              <a:rPr sz="2200" b="1" i="0">
                <a:solidFill>
                  <a:srgbClr val="00CCBC"/>
                </a:solidFill>
                <a:latin typeface="Sora"/>
              </a:rPr>
              <a:t>Deliveroo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</a:t>
            </a:r>
            <a:r>
              <a:rPr sz="2200" b="1" i="0">
                <a:solidFill>
                  <a:srgbClr val="FFC244"/>
                </a:solidFill>
                <a:latin typeface="Sora"/>
              </a:rPr>
              <a:t>Glovo</a:t>
            </a:r>
            <a:r>
              <a:rPr sz="2200" b="0" i="0">
                <a:solidFill>
                  <a:srgbClr val="F8FAFC"/>
                </a:solidFill>
                <a:latin typeface="Sora"/>
              </a:rPr>
              <a:t> permette di rilevare differenze concrete nel modo in cui gli utenti attraversano flussi simili.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I 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I task simulano un flusso di ordinazione identico per entrambe le app: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1. Inserire l'indirizzo di consegna: Piazza dell'Ateneo Nuovo, 1, 20126 Milano MI.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2. Trovare Bun Burgers nella lista dei ristoranti di Hamburger, aggiungere un Menù Cheeseburger Singolo con Patatine Normali e una bibita a piacere, procedere fino al checkout senza confermare l'ordine e tornare alla Home.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3. Aprire il carrello, modificare l'ordine da Cheeseburger Singolo a Cheeseburger Doppio, aumentare la quantità da 1 a 2 e verificare il checkout.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Inserisci come indirizzo di consegna:
Piazza dell'Ateneo Nuovo, 1, 20126 Milano MI.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13" name="Google Shape;413;p36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Deliveroo - 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Apri Deliveroo, e inserisci come indirizzo di consegna:
Piazza dell'Ateneo Nuovo, 1, 20126 Milano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23" name="Google Shape;423;p37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Glovo - 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Apri Glovo, e inserisci come indirizzo di consegna:
Piazza dell'Ateneo Nuovo, 1, 20126 Milano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Trova Bun Burgers dalla lista dei ristoranti di hamburger, aggiungi un Menù Cheeseburger Singolo e procedi fino al checkout senza confermare l'ordine.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13" name="Google Shape;413;p36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Deliveroo - 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Partendo dalla schermata Home:
Trova la lista di ristoranti di Hamburger. In questa lista trova il ristorante Bun Burgers.
Aggiungi un Menù Cheeseburger Singolo, con Patatine Normali e una bibita a piacere.
Procedi fino al Checkout (NON confermare l'ordine)
Ora torna alla Home.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23" name="Google Shape;423;p37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Glovo - 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Partendo dalla schermata Home:
Trova la lista di ristoranti di Hamburger. In questa lista trova il ristorante Bun Burgers.
Aggiungi un Menù Cheeseburger Singolo, con Patatine Normali e una bibita a piacere.
Procedi fino al Checkout (NON confermare l'ordine)
Ora torna alla Home.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Modifica l'ordine del task precedente: Cheeseburger Singolo in Cheeseburger Doppio e quantità da 1 a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13" name="Google Shape;413;p36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Deliveroo - 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Partendo dalla schermata Home: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Apri il carrello con i prodotti che hai aggiunto nel Task Precedente, e modifica l'ordine nei seguenti modi: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1. Anziche' un Cheeseburger Singolo, scegli il Cheeseburger Doppio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2. Adesso, anziche' 1 Menu Cheeseburger Doppio, aumenta a 2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Raggiungi il Checkout e assicurati che l'ordine modificato sia corretto.</a:t>
            </a: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23" name="Google Shape;423;p37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Glovo - 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Partendo dalla schermata Home: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Apri il carrello con i prodotti che hai aggiunto nel Task Precedente, e modifica l'ordine nei seguenti modi: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1. Anziche' un Cheeseburger Singolo, scegli il Cheeseburger Doppio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2. Adesso, anziche' 1 Menu Cheeseburger Doppio, aumenta a 2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Raggiungi il Checkout e assicurati che l'ordine modificato sia corretto.</a:t>
            </a: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Composizione del campione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La composizione del campione dei test utente aiuta a leggere </a:t>
            </a:r>
            <a:r>
              <a:rPr sz="2200" b="1" i="0">
                <a:solidFill>
                  <a:srgbClr val="F8FAFC"/>
                </a:solidFill>
                <a:latin typeface="Sora"/>
              </a:rPr>
              <a:t>tempi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</a:t>
            </a:r>
            <a:r>
              <a:rPr sz="2200" b="1" i="0">
                <a:solidFill>
                  <a:srgbClr val="F8FAFC"/>
                </a:solidFill>
                <a:latin typeface="Sora"/>
              </a:rPr>
              <a:t>errori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successo dei task in relazione al profilo dei partecipanti.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Stato raccolta: </a:t>
            </a:r>
            <a:r>
              <a:rPr sz="2200" b="1" i="0">
                <a:solidFill>
                  <a:srgbClr val="F8FAFC"/>
                </a:solidFill>
                <a:latin typeface="Sora"/>
              </a:rPr>
              <a:t>dati finali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24 utenti disponibili su 24 previsti.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Legenda efficacia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La lettura delle slide di efficacia distingue tre esiti: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successo: il task viene completato senza blocchi rilevanti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successo assistito o parziale: il task viene completato con aiuto, esitazioni o lentezza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insuccesso: il task non viene completato o produce errori bloccanti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Successo, errori e richieste di aiuto determinano la classificazione usata nei grafici.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Efficacia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L'</a:t>
            </a:r>
            <a:r>
              <a:rPr sz="2200" b="1" i="0">
                <a:solidFill>
                  <a:srgbClr val="F8FAFC"/>
                </a:solidFill>
                <a:latin typeface="Sora"/>
              </a:rPr>
              <a:t>efficacia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misura quanto spesso gli utenti riescono a completare correttamente i task assegnati.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effectiveness_deliveroo_vs_glovo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226" y="2180000"/>
            <a:ext cx="7415547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Efficacia - 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 risultati del task mostrano come successo, errori e tempi cambiano tra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1_effectiveness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Errori - 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slide mostra gli errori medi osservati per il task. Usarla insieme alla slide di efficacia per distinguere task completati rapidamente da task completati con frizioni operative.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1_error_breakdow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Efficacia - 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 risultati del task mostrano come successo, errori e tempi cambiano tra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2_effectiveness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Errori - 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slide mostra gli errori medi osservati per il task. Usarla insieme alla slide di efficacia per distinguere task completati rapidamente da task completati con frizioni operative.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2_error_breakdow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Efficacia - 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 risultati del task mostrano come successo, errori e tempi cambiano tra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3_effectiveness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Errori - 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slide mostra gli errori medi osservati per il task. Usarla insieme alla slide di efficacia per distinguere task completati rapidamente da task completati con frizioni operative.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3_error_breakdow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Efficienza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L'</a:t>
            </a:r>
            <a:r>
              <a:rPr sz="2200" b="1" i="0">
                <a:solidFill>
                  <a:srgbClr val="F8FAFC"/>
                </a:solidFill>
                <a:latin typeface="Sora"/>
              </a:rPr>
              <a:t>efficienza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considera il tempo necessario per completare i task, confrontando le prestazioni tra app e tra attività.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efficiency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226" y="2180000"/>
            <a:ext cx="7415547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Efficienza - 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 risultati del task mostrano come successo, errori e tempi cambiano tra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1_efficiency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Efficienza - 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 risultati del task mostrano come successo, errori e tempi cambiano tra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2_efficiency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Efficienza - 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 risultati del task mostrano come successo, errori e tempi cambiano tra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t03_efficiency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5" name="Google Shape;155;p20" title="Background 0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Successo e distribuzione tempi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La lettura congiunta di </a:t>
            </a:r>
            <a:r>
              <a:rPr sz="2200" b="1" i="0">
                <a:solidFill>
                  <a:srgbClr val="F8FAFC"/>
                </a:solidFill>
                <a:latin typeface="Sora"/>
              </a:rPr>
              <a:t>tempi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successo ed errori permette di distinguere task rapidi ma problematici da task più lunghi ma completati correttamente.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Picture 160" descr="users_time_success_rate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39077"/>
            <a:ext cx="5334000" cy="2629521"/>
          </a:xfrm>
          <a:prstGeom prst="rect">
            <a:avLst/>
          </a:prstGeom>
        </p:spPr>
      </p:pic>
      <p:pic>
        <p:nvPicPr>
          <p:cNvPr id="162" name="Picture 161" descr="users_time_boxplot_by_task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737578"/>
            <a:ext cx="5334000" cy="263251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5" name="Google Shape;155;p20" title="Background 0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Tempi, successo ed errori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La lettura congiunta di </a:t>
            </a:r>
            <a:r>
              <a:rPr sz="2200" b="1" i="0">
                <a:solidFill>
                  <a:srgbClr val="F8FAFC"/>
                </a:solidFill>
                <a:latin typeface="Sora"/>
              </a:rPr>
              <a:t>tempi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successo ed errori permette di distinguere task rapidi ma problematici da task più lunghi ma completati correttamente.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Picture 160" descr="users_time_mean_by_task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37578"/>
            <a:ext cx="5334000" cy="2632519"/>
          </a:xfrm>
          <a:prstGeom prst="rect">
            <a:avLst/>
          </a:prstGeom>
        </p:spPr>
      </p:pic>
      <p:pic>
        <p:nvPicPr>
          <p:cNvPr id="162" name="Picture 161" descr="users_time_errors_by_task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737578"/>
            <a:ext cx="5334000" cy="2632519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Google Shape;99;p14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Asset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5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Questionario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Questionario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Una buona applicazione non deve soltanto funzionare correttamente: deve anche risultare </a:t>
            </a:r>
            <a:r>
              <a:rPr sz="2200" b="1" i="0">
                <a:solidFill>
                  <a:srgbClr val="F8FAFC"/>
                </a:solidFill>
                <a:latin typeface="Sora"/>
              </a:rPr>
              <a:t>comprensibile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</a:t>
            </a:r>
            <a:r>
              <a:rPr sz="2200" b="0" i="1">
                <a:solidFill>
                  <a:srgbClr val="CBD5E1"/>
                </a:solidFill>
                <a:latin typeface="Sora"/>
              </a:rPr>
              <a:t>piacevole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prevedibile e adatta alle aspettative degli utenti.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Il questionario raccoglie la </a:t>
            </a:r>
            <a:r>
              <a:rPr sz="2200" b="1" i="0">
                <a:solidFill>
                  <a:srgbClr val="F8FAFC"/>
                </a:solidFill>
                <a:latin typeface="Sora"/>
              </a:rPr>
              <a:t>percezione soggettiva</a:t>
            </a:r>
            <a:r>
              <a:rPr sz="2200" b="0" i="0">
                <a:solidFill>
                  <a:srgbClr val="F8FAFC"/>
                </a:solidFill>
                <a:latin typeface="Sora"/>
              </a:rPr>
              <a:t> dei partecipanti e completa la valutazione oggettiva ottenuta con euristiche e </a:t>
            </a:r>
            <a:r>
              <a:rPr sz="2200" b="1" i="0">
                <a:solidFill>
                  <a:srgbClr val="A78BFA"/>
                </a:solidFill>
                <a:latin typeface="Sora"/>
              </a:rPr>
              <a:t>user test</a:t>
            </a:r>
            <a:r>
              <a:rPr sz="2200" b="0" i="0">
                <a:solidFill>
                  <a:srgbClr val="F8FAFC"/>
                </a:solidFill>
                <a:latin typeface="Sora"/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5" name="Google Shape;155;p20" title="Background 0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Composizione del campione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La composizione del campione del questionario viene usata per contestualizzare i risultati </a:t>
            </a:r>
            <a:r>
              <a:rPr sz="2200" b="1" i="0">
                <a:solidFill>
                  <a:srgbClr val="A78BFA"/>
                </a:solidFill>
                <a:latin typeface="Sora"/>
              </a:rPr>
              <a:t>UEQ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</a:t>
            </a:r>
            <a:r>
              <a:rPr sz="2200" b="1" i="0">
                <a:solidFill>
                  <a:srgbClr val="A78BFA"/>
                </a:solidFill>
                <a:latin typeface="Sora"/>
              </a:rPr>
              <a:t>NPS</a:t>
            </a:r>
            <a:r>
              <a:rPr sz="2200" b="0" i="0">
                <a:solidFill>
                  <a:srgbClr val="F8FAFC"/>
                </a:solidFill>
                <a:latin typeface="Sor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Stato raccolta: </a:t>
            </a:r>
            <a:r>
              <a:rPr sz="2200" b="1" i="0">
                <a:solidFill>
                  <a:srgbClr val="F8FAFC"/>
                </a:solidFill>
                <a:latin typeface="Sora"/>
              </a:rPr>
              <a:t>dati finali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24 risposte finite su 24 previste.</a:t>
            </a:r>
          </a:p>
        </p:txBody>
      </p:sp>
      <p:pic>
        <p:nvPicPr>
          <p:cNvPr id="161" name="Picture 160" descr="gender_distribution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69038"/>
            <a:ext cx="5334000" cy="2969598"/>
          </a:xfrm>
          <a:prstGeom prst="rect">
            <a:avLst/>
          </a:prstGeom>
        </p:spPr>
      </p:pic>
      <p:pic>
        <p:nvPicPr>
          <p:cNvPr id="162" name="Picture 161" descr="familiarity_distributi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567159"/>
            <a:ext cx="5334000" cy="2973357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1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3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5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7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9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11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13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15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17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21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23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Domanda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delle risposte evidenzia differenze nella percezione degli utenti sulle due applicazioni.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25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Confronto tra sistemi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Nelle slide successive vengono presentati alcuni </a:t>
            </a:r>
            <a:r>
              <a:rPr sz="2200" b="1" i="0">
                <a:solidFill>
                  <a:srgbClr val="F8FAFC"/>
                </a:solidFill>
                <a:latin typeface="Sora"/>
              </a:rPr>
              <a:t>confronti tra sistemi</a:t>
            </a:r>
            <a:r>
              <a:rPr sz="2200" b="0" i="0">
                <a:solidFill>
                  <a:srgbClr val="F8FAFC"/>
                </a:solidFill>
                <a:latin typeface="Sora"/>
              </a:rPr>
              <a:t> sulle domande più rappresentative.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L'obiettivo e osservare se le differenze percepite dagli utenti sono coerenti con le evidenze emerse nei test e nella </a:t>
            </a:r>
            <a:r>
              <a:rPr sz="2200" b="1" i="0">
                <a:solidFill>
                  <a:srgbClr val="38BDF8"/>
                </a:solidFill>
                <a:latin typeface="Sora"/>
              </a:rPr>
              <a:t>valutazione euristica</a:t>
            </a:r>
            <a:r>
              <a:rPr sz="2200" b="0" i="0">
                <a:solidFill>
                  <a:srgbClr val="F8FAFC"/>
                </a:solidFill>
                <a:latin typeface="Sora"/>
              </a:rPr>
              <a:t>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Confronto statistico - Domanda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Il confronto tra sistemi aiuta a leggere quali item UEQ separano maggiormente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1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Confronto statistico - Domanda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Il confronto tra sistemi aiuta a leggere quali item UEQ separano maggiormente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4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021" y="2180000"/>
            <a:ext cx="6323957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Confronto statistico - Domanda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Il confronto tra sistemi aiuta a leggere quali item UEQ separano maggiormente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09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Confronto statistico - Domanda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Il confronto tra sistemi aiuta a leggere quali item UEQ separano maggiormente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13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43" y="2180000"/>
            <a:ext cx="6173514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Confronto statistico - Domanda 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Il confronto tra sistemi aiuta a leggere quali item UEQ separano maggiormente Deliveroo e Glovo.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item_23_boxpl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5" y="2180000"/>
            <a:ext cx="61813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La scala UEQ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La scala </a:t>
            </a:r>
            <a:r>
              <a:rPr sz="2200" b="1" i="0">
                <a:solidFill>
                  <a:srgbClr val="A78BFA"/>
                </a:solidFill>
                <a:latin typeface="Sora"/>
              </a:rPr>
              <a:t>UEQ</a:t>
            </a:r>
            <a:r>
              <a:rPr sz="2200" b="0" i="0">
                <a:solidFill>
                  <a:srgbClr val="F8FAFC"/>
                </a:solidFill>
                <a:latin typeface="Sora"/>
              </a:rPr>
              <a:t> consente di misurare l'esperienza d'uso lungo dimensioni come: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attrattiva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perspicuità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efficienza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affidabilità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stimolazione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novità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Il confronto tra sistemi permette di leggere non solo la </a:t>
            </a:r>
            <a:r>
              <a:rPr sz="2200" b="1" i="0">
                <a:solidFill>
                  <a:srgbClr val="F8FAFC"/>
                </a:solidFill>
                <a:latin typeface="Sora"/>
              </a:rPr>
              <a:t>prestazione funzionale</a:t>
            </a:r>
            <a:r>
              <a:rPr sz="2200" b="0" i="0">
                <a:solidFill>
                  <a:srgbClr val="F8FAFC"/>
                </a:solidFill>
                <a:latin typeface="Sora"/>
              </a:rPr>
              <a:t>, ma anche il vissuto soggettivo degli utenti.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Scala UEQ - analisi dei sottogruppi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L'analisi per sottogruppi contestualizza i risultati rispetto al profilo dei partecipanti.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ueq_by_familiarity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685" y="2180000"/>
            <a:ext cx="76586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66" name="Google Shape;166;p21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Analisi dei dati UEQ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Dati ordinati e sintetizzati per la presentazione finale.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Rounded Rectangle 170"/>
          <p:cNvSpPr/>
          <p:nvPr/>
        </p:nvSpPr>
        <p:spPr>
          <a:xfrm>
            <a:off x="501500" y="1463525"/>
            <a:ext cx="11189000" cy="489000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2" name="Table 171"/>
          <p:cNvGraphicFramePr>
            <a:graphicFrameLocks noGrp="1"/>
          </p:cNvGraphicFramePr>
          <p:nvPr/>
        </p:nvGraphicFramePr>
        <p:xfrm>
          <a:off x="571500" y="1533525"/>
          <a:ext cx="11048999" cy="4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23"/>
                <a:gridCol w="3224697"/>
                <a:gridCol w="1929693"/>
                <a:gridCol w="1929693"/>
                <a:gridCol w="1929693"/>
              </a:tblGrid>
              <a:tr h="5937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C"/>
                          </a:solidFill>
                          <a:latin typeface="Sora"/>
                        </a:rPr>
                        <a:t>App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C"/>
                          </a:solidFill>
                          <a:latin typeface="Sora"/>
                        </a:rPr>
                        <a:t>Scale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C"/>
                          </a:solidFill>
                          <a:latin typeface="Sora"/>
                        </a:rPr>
                        <a:t>Mean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C"/>
                          </a:solidFill>
                          <a:latin typeface="Sora"/>
                        </a:rPr>
                        <a:t>Median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C"/>
                          </a:solidFill>
                          <a:latin typeface="Sora"/>
                        </a:rPr>
                        <a:t>Std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Deliveroo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attrattivita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3.89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1.26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Deliveroo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apprendibilita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3.71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1.44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Deliveroo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efficienza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4.12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1.42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Deliveroo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controllabilita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3.93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1.49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Deliveroo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stimolazione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4.31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1.42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Deliveroo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originalita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4.29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1.46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Glovo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attrattivita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3.88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4.0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E5E7EB"/>
                          </a:solidFill>
                          <a:latin typeface="Sora"/>
                        </a:rPr>
                        <a:t>1.35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Media risultati UEQ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Il grafico riassume le scale </a:t>
            </a:r>
            <a:r>
              <a:rPr sz="2200" b="1" i="0">
                <a:solidFill>
                  <a:srgbClr val="A78BFA"/>
                </a:solidFill>
                <a:latin typeface="Sora"/>
              </a:rPr>
              <a:t>UEQ</a:t>
            </a:r>
            <a:r>
              <a:rPr sz="2200" b="0" i="0">
                <a:solidFill>
                  <a:srgbClr val="F8FAFC"/>
                </a:solidFill>
                <a:latin typeface="Sora"/>
              </a:rPr>
              <a:t> e permette di individuare rapidamente le dimensioni in cui una delle due app risulta percepita meglio.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Picture 131" descr="ueq_scales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316" y="2180000"/>
            <a:ext cx="8197368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Google Shape;128;p17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Net Promoter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900" b="0" i="0">
                <a:solidFill>
                  <a:srgbClr val="F8FAFC"/>
                </a:solidFill>
                <a:latin typeface="Sora"/>
              </a:rPr>
              <a:t>Il </a:t>
            </a:r>
            <a:r>
              <a:rPr sz="1900" b="1" i="0">
                <a:solidFill>
                  <a:srgbClr val="F8FAFC"/>
                </a:solidFill>
                <a:latin typeface="Sora"/>
              </a:rPr>
              <a:t>Net Promoter Score</a:t>
            </a:r>
            <a:r>
              <a:rPr sz="1900" b="0" i="0">
                <a:solidFill>
                  <a:srgbClr val="F8FAFC"/>
                </a:solidFill>
                <a:latin typeface="Sora"/>
              </a:rPr>
              <a:t> misura la disponibilità degli utenti a consigliare un servizio.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F8FAFC"/>
                </a:solidFill>
                <a:latin typeface="Sora"/>
              </a:rPr>
              <a:t>Il punteggio sintetizza </a:t>
            </a:r>
            <a:r>
              <a:rPr sz="1900" b="1" i="0">
                <a:solidFill>
                  <a:srgbClr val="F8FAFC"/>
                </a:solidFill>
                <a:latin typeface="Sora"/>
              </a:rPr>
              <a:t>promotori</a:t>
            </a:r>
            <a:r>
              <a:rPr sz="1900" b="0" i="0">
                <a:solidFill>
                  <a:srgbClr val="F8FAFC"/>
                </a:solidFill>
                <a:latin typeface="Sora"/>
              </a:rPr>
              <a:t>, passivi e </a:t>
            </a:r>
            <a:r>
              <a:rPr sz="1900" b="1" i="0">
                <a:solidFill>
                  <a:srgbClr val="F8FAFC"/>
                </a:solidFill>
                <a:latin typeface="Sora"/>
              </a:rPr>
              <a:t>detrattori</a:t>
            </a:r>
            <a:r>
              <a:rPr sz="1900" b="0" i="0">
                <a:solidFill>
                  <a:srgbClr val="F8FAFC"/>
                </a:solidFill>
                <a:latin typeface="Sora"/>
              </a:rPr>
              <a:t>, offrendo una lettura immediata della soddisfazione complessiva.</a:t>
            </a:r>
          </a:p>
        </p:txBody>
      </p:sp>
      <p:pic>
        <p:nvPicPr>
          <p:cNvPr id="132" name="Picture 131" descr="nps_comparis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531" y="2180000"/>
            <a:ext cx="5822938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7" name="Google Shape;137;p18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Net Promoter Score 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NPS distingue promotori, passivi e detrattori per l'app selezionata.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Picture 140" descr="nps_stacked_bar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410" y="2180000"/>
            <a:ext cx="6411180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6" name="Google Shape;146;p19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Net Promoter Score 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Sora"/>
                <a:ea typeface="Arial"/>
                <a:cs typeface="Arial"/>
                <a:sym typeface="Arial"/>
              </a:rPr>
              <a:t>La distribuzione NPS distingue promotori, passivi e detrattori per l'app selezionata.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Picture 149" descr="nps_stacked_bar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410" y="2180000"/>
            <a:ext cx="6411180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Conclusioni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L'analisi ha confrontato Deliveroo e Glovo attraverso valutazione euristica, user test e questionario.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Nel complesso, le differenze principali emergono dal modo in cui le due app organizzano: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ricerca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scelta dei prodotti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carrello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conferma dell'ordine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Le conclusioni finali vanno validate dal gruppo sulla base dei dati raccolti e delle evidenze presentate nel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